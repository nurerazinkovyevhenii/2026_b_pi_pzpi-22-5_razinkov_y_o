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1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7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3584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171A21"/>
          </a:solidFill>
          <a:ln/>
        </p:spPr>
      </p:sp>
      <p:sp>
        <p:nvSpPr>
          <p:cNvPr id="3" name="Shape 1"/>
          <p:cNvSpPr/>
          <p:nvPr/>
        </p:nvSpPr>
        <p:spPr>
          <a:xfrm>
            <a:off x="8458200" y="457200"/>
            <a:ext cx="3291840" cy="2830982"/>
          </a:xfrm>
          <a:prstGeom prst="hexagon">
            <a:avLst/>
          </a:prstGeom>
          <a:solidFill>
            <a:srgbClr val="F0803C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372600" y="2377440"/>
            <a:ext cx="2377440" cy="2044598"/>
          </a:xfrm>
          <a:prstGeom prst="hexagon">
            <a:avLst/>
          </a:prstGeom>
          <a:ln w="22225">
            <a:solidFill>
              <a:srgbClr val="5EEAD4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83880" y="4114800"/>
            <a:ext cx="4023360" cy="3460090"/>
          </a:xfrm>
          <a:prstGeom prst="hexagon">
            <a:avLst/>
          </a:prstGeom>
          <a:ln w="25400">
            <a:solidFill>
              <a:srgbClr val="F0803C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21240" y="5394960"/>
            <a:ext cx="1554480" cy="1336853"/>
          </a:xfrm>
          <a:prstGeom prst="hexagon">
            <a:avLst/>
          </a:prstGeom>
          <a:solidFill>
            <a:srgbClr val="5EEAD4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-1005840" y="-1188720"/>
            <a:ext cx="3840480" cy="3302813"/>
          </a:xfrm>
          <a:prstGeom prst="hexagon">
            <a:avLst/>
          </a:prstGeom>
          <a:ln w="15875">
            <a:solidFill>
              <a:srgbClr val="F0803C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274320" y="4206240"/>
            <a:ext cx="2377440" cy="2044598"/>
          </a:xfrm>
          <a:prstGeom prst="hexagon">
            <a:avLst/>
          </a:prstGeom>
          <a:ln w="12700">
            <a:solidFill>
              <a:srgbClr val="F0803C">
                <a:alpha val="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48640"/>
            <a:ext cx="6446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D83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МІНІСТЕРСТВО ОСВІТИ І НАУКИ УКРАЇНИ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841248"/>
            <a:ext cx="6446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Харківський національний університет радіоелектроніки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331720"/>
            <a:ext cx="6446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F0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КВАЛІФІКАЦІЙНА РОБОТА БАКАЛАВРА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697480"/>
            <a:ext cx="6446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Вебплатформа для торгівлі </a:t>
            </a:r>
            <a:r>
              <a:rPr lang="en-US" sz="3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віртуальними</a:t>
            </a: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предметами </a:t>
            </a: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гри Counter-Strike 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2960" y="5623560"/>
            <a:ext cx="30861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D83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НАУКОВИЙ КЕРІВНИК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5879592"/>
            <a:ext cx="30861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доц. кафедри ПІ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6135624"/>
            <a:ext cx="30861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Колесников Д.О.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83380" y="5623560"/>
            <a:ext cx="30861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D83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ВИКОНАВ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83380" y="5879592"/>
            <a:ext cx="30861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ст. гр. ПЗПІ-22-5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83380" y="6135624"/>
            <a:ext cx="30861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Разіньков Є.О.</a:t>
            </a:r>
            <a:endParaRPr lang="en-US" sz="13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8AF07E5-A9C4-CAA4-5A96-124106CA1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2617" y="5737860"/>
            <a:ext cx="79057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BDC80E7-6C3E-17B8-81D1-DCEBD0116DFE}"/>
              </a:ext>
            </a:extLst>
          </p:cNvPr>
          <p:cNvSpPr txBox="1"/>
          <p:nvPr/>
        </p:nvSpPr>
        <p:spPr>
          <a:xfrm>
            <a:off x="11750040" y="6564075"/>
            <a:ext cx="384295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dirty="0">
                <a:solidFill>
                  <a:srgbClr val="7D8393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005840"/>
            <a:ext cx="2743200" cy="2359152"/>
          </a:xfrm>
          <a:prstGeom prst="hexagon">
            <a:avLst/>
          </a:prstGeom>
          <a:ln w="15875">
            <a:solidFill>
              <a:srgbClr val="F0803C">
                <a:alpha val="7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F0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РОЗДІЛ 1 — АНАЛІЗ ПРЕДМЕТНОЇ ГАЛУЗІ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Ринок віртуальних предметів CS2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532120" cy="4709160"/>
          </a:xfrm>
          <a:prstGeom prst="roundRect">
            <a:avLst>
              <a:gd name="adj" fmla="val 2330"/>
            </a:avLst>
          </a:prstGeom>
          <a:solidFill>
            <a:srgbClr val="171A21"/>
          </a:solidFill>
          <a:ln w="15875">
            <a:solidFill>
              <a:srgbClr val="7D8393">
                <a:alpha val="55000"/>
              </a:srgbClr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914400" y="564642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7D83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Демонстрація ігрових предметів</a:t>
            </a:r>
            <a:endParaRPr lang="en-US" sz="12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7D83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AK-47 · ножі · рукавички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37960" y="1600200"/>
            <a:ext cx="5013655" cy="2651760"/>
          </a:xfrm>
          <a:prstGeom prst="roundRect">
            <a:avLst>
              <a:gd name="adj" fmla="val 4615"/>
            </a:avLst>
          </a:prstGeom>
          <a:solidFill>
            <a:srgbClr val="171A21"/>
          </a:solidFill>
          <a:ln/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0" y="1856232"/>
            <a:ext cx="4373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7D83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ДИНАМІКА КАПІТАЛІЗАЦІЇ РИНКУ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537960" y="4466844"/>
            <a:ext cx="274320" cy="237744"/>
          </a:xfrm>
          <a:prstGeom prst="hexagon">
            <a:avLst/>
          </a:prstGeom>
          <a:solidFill>
            <a:srgbClr val="5EEAD4"/>
          </a:solidFill>
          <a:ln/>
        </p:spPr>
      </p:sp>
      <p:sp>
        <p:nvSpPr>
          <p:cNvPr id="15" name="Text 12"/>
          <p:cNvSpPr/>
          <p:nvPr/>
        </p:nvSpPr>
        <p:spPr>
          <a:xfrm>
            <a:off x="6995160" y="4251960"/>
            <a:ext cx="45564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$5.6 млрд</a:t>
            </a:r>
            <a:r>
              <a:rPr lang="en-US" sz="125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капіталізація ринку предметів CS2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537960" y="5152644"/>
            <a:ext cx="274320" cy="237744"/>
          </a:xfrm>
          <a:prstGeom prst="hexagon">
            <a:avLst/>
          </a:prstGeom>
          <a:solidFill>
            <a:srgbClr val="F0803C"/>
          </a:solidFill>
          <a:ln/>
        </p:spPr>
      </p:sp>
      <p:sp>
        <p:nvSpPr>
          <p:cNvPr id="17" name="Text 14"/>
          <p:cNvSpPr/>
          <p:nvPr/>
        </p:nvSpPr>
        <p:spPr>
          <a:xfrm>
            <a:off x="6995160" y="4937760"/>
            <a:ext cx="45564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Скіни — високоліквідні інвестиційні активи, а не лише косметика гри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537960" y="5838444"/>
            <a:ext cx="274320" cy="237744"/>
          </a:xfrm>
          <a:prstGeom prst="hexagon">
            <a:avLst/>
          </a:prstGeom>
          <a:solidFill>
            <a:srgbClr val="F0803C"/>
          </a:solidFill>
          <a:ln/>
        </p:spPr>
      </p:sp>
      <p:sp>
        <p:nvSpPr>
          <p:cNvPr id="19" name="Text 16"/>
          <p:cNvSpPr/>
          <p:nvPr/>
        </p:nvSpPr>
        <p:spPr>
          <a:xfrm>
            <a:off x="6995160" y="5623560"/>
            <a:ext cx="45564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Ціна формується рідкістю, ступенем зносу (float) та унікальністю патерна</a:t>
            </a:r>
            <a:endParaRPr lang="en-US" sz="125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CD30B361-F372-0818-154B-7BE478C0F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156501"/>
            <a:ext cx="4393035" cy="1978070"/>
          </a:xfrm>
          <a:prstGeom prst="rect">
            <a:avLst/>
          </a:prstGeom>
          <a:ln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D575AC-1861-67CC-908F-5F9C6AB91780}"/>
              </a:ext>
            </a:extLst>
          </p:cNvPr>
          <p:cNvSpPr txBox="1"/>
          <p:nvPr/>
        </p:nvSpPr>
        <p:spPr>
          <a:xfrm>
            <a:off x="11750040" y="6564075"/>
            <a:ext cx="384295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ru-RU" sz="1400" dirty="0">
                <a:solidFill>
                  <a:srgbClr val="7D8393"/>
                </a:solidFill>
                <a:latin typeface="Arial"/>
              </a:rPr>
              <a:t>2</a:t>
            </a:r>
            <a:endParaRPr sz="1400" b="0" i="0" dirty="0">
              <a:solidFill>
                <a:srgbClr val="7D8393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5120640"/>
            <a:ext cx="2377440" cy="2044598"/>
          </a:xfrm>
          <a:prstGeom prst="hexagon">
            <a:avLst/>
          </a:prstGeom>
          <a:ln w="13970">
            <a:solidFill>
              <a:srgbClr val="F0803C">
                <a:alpha val="7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F0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РОЗДІЛ 1 — АНАЛІЗ ПРЕДМЕТНОЇ ГАЛУЗІ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Бізнес-моделі торгівлі віртуальними предметами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52144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Універсальної компромісної моделі на ринку не існує — кожна балансує між ціною, швидкістю та безпекою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442106" cy="4572000"/>
          </a:xfrm>
          <a:prstGeom prst="roundRect">
            <a:avLst>
              <a:gd name="adj" fmla="val 3188"/>
            </a:avLst>
          </a:prstGeom>
          <a:solidFill>
            <a:srgbClr val="171A21"/>
          </a:solidFill>
          <a:ln/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1984248"/>
            <a:ext cx="512064" cy="438912"/>
          </a:xfrm>
          <a:prstGeom prst="hexagon">
            <a:avLst/>
          </a:prstGeom>
          <a:ln w="19050">
            <a:solidFill>
              <a:srgbClr val="F080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984248"/>
            <a:ext cx="5120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2532888"/>
            <a:ext cx="28568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Офіційний ринок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2880360"/>
            <a:ext cx="28568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50" dirty="0">
                <a:solidFill>
                  <a:srgbClr val="7D83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 Community Market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32688" y="3551301"/>
            <a:ext cx="219456" cy="192024"/>
          </a:xfrm>
          <a:prstGeom prst="hexagon">
            <a:avLst/>
          </a:prstGeom>
          <a:solidFill>
            <a:srgbClr val="5EEAD4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551301"/>
            <a:ext cx="219456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1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61872" y="3383280"/>
            <a:ext cx="2573426" cy="537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Гарантована безпека угод (Valve)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32688" y="4088511"/>
            <a:ext cx="219456" cy="192024"/>
          </a:xfrm>
          <a:prstGeom prst="hexagon">
            <a:avLst/>
          </a:prstGeom>
          <a:solidFill>
            <a:srgbClr val="F0803C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4088511"/>
            <a:ext cx="219456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1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61872" y="3920490"/>
            <a:ext cx="2573426" cy="537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Кошти не виводяться з системи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32688" y="4625721"/>
            <a:ext cx="219456" cy="192024"/>
          </a:xfrm>
          <a:prstGeom prst="hexagon">
            <a:avLst/>
          </a:prstGeom>
          <a:solidFill>
            <a:srgbClr val="F0803C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4625721"/>
            <a:ext cx="219456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1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61872" y="4457700"/>
            <a:ext cx="2573426" cy="537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Комісія до 15% з продажу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32688" y="5162931"/>
            <a:ext cx="219456" cy="192024"/>
          </a:xfrm>
          <a:prstGeom prst="hexagon">
            <a:avLst/>
          </a:prstGeom>
          <a:solidFill>
            <a:srgbClr val="F0803C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5162931"/>
            <a:ext cx="219456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1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61872" y="4994910"/>
            <a:ext cx="2573426" cy="537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Ліміт вартості одного лота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6112" y="5577840"/>
            <a:ext cx="2930042" cy="457200"/>
          </a:xfrm>
          <a:prstGeom prst="roundRect">
            <a:avLst>
              <a:gd name="adj" fmla="val 50000"/>
            </a:avLst>
          </a:prstGeom>
          <a:solidFill>
            <a:srgbClr val="F0803C">
              <a:alpha val="13000"/>
            </a:srgbClr>
          </a:solidFill>
          <a:ln w="12700">
            <a:solidFill>
              <a:srgbClr val="F0803C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5577840"/>
            <a:ext cx="2930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підходить для виведення коштів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74794" y="1691640"/>
            <a:ext cx="3442106" cy="4572000"/>
          </a:xfrm>
          <a:prstGeom prst="roundRect">
            <a:avLst>
              <a:gd name="adj" fmla="val 3188"/>
            </a:avLst>
          </a:prstGeom>
          <a:solidFill>
            <a:srgbClr val="171A21"/>
          </a:solidFill>
          <a:ln/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7402" y="1984248"/>
            <a:ext cx="512064" cy="438912"/>
          </a:xfrm>
          <a:prstGeom prst="hexagon">
            <a:avLst/>
          </a:prstGeom>
          <a:ln w="19050">
            <a:solidFill>
              <a:srgbClr val="F080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7402" y="1984248"/>
            <a:ext cx="5120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67402" y="2532888"/>
            <a:ext cx="28568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Швидкий викуп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667402" y="2880360"/>
            <a:ext cx="28568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50" dirty="0">
                <a:solidFill>
                  <a:srgbClr val="7D83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Buyout-платформи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7402" y="3551301"/>
            <a:ext cx="219456" cy="192024"/>
          </a:xfrm>
          <a:prstGeom prst="hexagon">
            <a:avLst/>
          </a:prstGeom>
          <a:solidFill>
            <a:srgbClr val="5EEAD4"/>
          </a:solidFill>
          <a:ln/>
        </p:spPr>
      </p:sp>
      <p:sp>
        <p:nvSpPr>
          <p:cNvPr id="31" name="Text 29"/>
          <p:cNvSpPr/>
          <p:nvPr/>
        </p:nvSpPr>
        <p:spPr>
          <a:xfrm>
            <a:off x="4667402" y="3551301"/>
            <a:ext cx="219456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1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96586" y="3383280"/>
            <a:ext cx="2573426" cy="537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Миттєва виплата без очікування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7402" y="4088511"/>
            <a:ext cx="219456" cy="192024"/>
          </a:xfrm>
          <a:prstGeom prst="hexagon">
            <a:avLst/>
          </a:prstGeom>
          <a:solidFill>
            <a:srgbClr val="F0803C"/>
          </a:solidFill>
          <a:ln/>
        </p:spPr>
      </p:sp>
      <p:sp>
        <p:nvSpPr>
          <p:cNvPr id="34" name="Text 32"/>
          <p:cNvSpPr/>
          <p:nvPr/>
        </p:nvSpPr>
        <p:spPr>
          <a:xfrm>
            <a:off x="4667402" y="4088511"/>
            <a:ext cx="219456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1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96586" y="3920490"/>
            <a:ext cx="2573426" cy="537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Дисконт до 40% нижче ринку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7402" y="4625721"/>
            <a:ext cx="219456" cy="192024"/>
          </a:xfrm>
          <a:prstGeom prst="hexagon">
            <a:avLst/>
          </a:prstGeom>
          <a:solidFill>
            <a:srgbClr val="F0803C"/>
          </a:solidFill>
          <a:ln/>
        </p:spPr>
      </p:sp>
      <p:sp>
        <p:nvSpPr>
          <p:cNvPr id="37" name="Text 35"/>
          <p:cNvSpPr/>
          <p:nvPr/>
        </p:nvSpPr>
        <p:spPr>
          <a:xfrm>
            <a:off x="4667402" y="4625721"/>
            <a:ext cx="219456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1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96586" y="4457700"/>
            <a:ext cx="2573426" cy="537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Ігнорує float та pattern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7402" y="5162931"/>
            <a:ext cx="219456" cy="192024"/>
          </a:xfrm>
          <a:prstGeom prst="hexagon">
            <a:avLst/>
          </a:prstGeom>
          <a:solidFill>
            <a:srgbClr val="F0803C"/>
          </a:solidFill>
          <a:ln/>
        </p:spPr>
      </p:sp>
      <p:sp>
        <p:nvSpPr>
          <p:cNvPr id="40" name="Text 38"/>
          <p:cNvSpPr/>
          <p:nvPr/>
        </p:nvSpPr>
        <p:spPr>
          <a:xfrm>
            <a:off x="4667402" y="5162931"/>
            <a:ext cx="219456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1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96586" y="4994910"/>
            <a:ext cx="2573426" cy="537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Ризик Trade Ban для ботів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30826" y="5577840"/>
            <a:ext cx="2930042" cy="457200"/>
          </a:xfrm>
          <a:prstGeom prst="roundRect">
            <a:avLst>
              <a:gd name="adj" fmla="val 50000"/>
            </a:avLst>
          </a:prstGeom>
          <a:solidFill>
            <a:srgbClr val="F0803C">
              <a:alpha val="13000"/>
            </a:srgbClr>
          </a:solidFill>
          <a:ln w="12700">
            <a:solidFill>
              <a:srgbClr val="F0803C">
                <a:alpha val="4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30826" y="5577840"/>
            <a:ext cx="2930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−40% від реальної вартості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109814" y="1701546"/>
            <a:ext cx="3442106" cy="4572000"/>
          </a:xfrm>
          <a:prstGeom prst="roundRect">
            <a:avLst>
              <a:gd name="adj" fmla="val 3188"/>
            </a:avLst>
          </a:prstGeom>
          <a:solidFill>
            <a:srgbClr val="171A21"/>
          </a:solidFill>
          <a:ln w="15875">
            <a:solidFill>
              <a:srgbClr val="5EEAD4">
                <a:alpha val="5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402117" y="1984248"/>
            <a:ext cx="512064" cy="438912"/>
          </a:xfrm>
          <a:prstGeom prst="hexagon">
            <a:avLst/>
          </a:prstGeom>
          <a:ln w="19050">
            <a:solidFill>
              <a:srgbClr val="5EEA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02117" y="1984248"/>
            <a:ext cx="5120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402117" y="2532888"/>
            <a:ext cx="28568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Класичні P2P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8402117" y="2880360"/>
            <a:ext cx="28568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50" dirty="0">
                <a:solidFill>
                  <a:srgbClr val="7D83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P2P-маркетплейси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402117" y="3551301"/>
            <a:ext cx="219456" cy="192024"/>
          </a:xfrm>
          <a:prstGeom prst="hexagon">
            <a:avLst/>
          </a:prstGeom>
          <a:solidFill>
            <a:srgbClr val="5EEAD4"/>
          </a:solidFill>
          <a:ln/>
        </p:spPr>
      </p:sp>
      <p:sp>
        <p:nvSpPr>
          <p:cNvPr id="50" name="Text 48"/>
          <p:cNvSpPr/>
          <p:nvPr/>
        </p:nvSpPr>
        <p:spPr>
          <a:xfrm>
            <a:off x="8402117" y="3551301"/>
            <a:ext cx="219456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1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731301" y="3383280"/>
            <a:ext cx="2573426" cy="537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Ціна, наближена до ринкової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402117" y="4088511"/>
            <a:ext cx="219456" cy="192024"/>
          </a:xfrm>
          <a:prstGeom prst="hexagon">
            <a:avLst/>
          </a:prstGeom>
          <a:solidFill>
            <a:srgbClr val="F0803C"/>
          </a:solidFill>
          <a:ln/>
        </p:spPr>
      </p:sp>
      <p:sp>
        <p:nvSpPr>
          <p:cNvPr id="53" name="Text 51"/>
          <p:cNvSpPr/>
          <p:nvPr/>
        </p:nvSpPr>
        <p:spPr>
          <a:xfrm>
            <a:off x="8402117" y="4088511"/>
            <a:ext cx="219456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1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731301" y="3920490"/>
            <a:ext cx="2573426" cy="537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Деякі платформи вимагають API-ключ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402117" y="4625721"/>
            <a:ext cx="219456" cy="192024"/>
          </a:xfrm>
          <a:prstGeom prst="hexagon">
            <a:avLst/>
          </a:prstGeom>
          <a:solidFill>
            <a:srgbClr val="F0803C"/>
          </a:solidFill>
          <a:ln/>
        </p:spPr>
      </p:sp>
      <p:sp>
        <p:nvSpPr>
          <p:cNvPr id="56" name="Text 54"/>
          <p:cNvSpPr/>
          <p:nvPr/>
        </p:nvSpPr>
        <p:spPr>
          <a:xfrm>
            <a:off x="8402117" y="4625721"/>
            <a:ext cx="219456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1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731301" y="4457700"/>
            <a:ext cx="2573426" cy="537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Очікування реального покупця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402117" y="5162931"/>
            <a:ext cx="219456" cy="192024"/>
          </a:xfrm>
          <a:prstGeom prst="hexagon">
            <a:avLst/>
          </a:prstGeom>
          <a:solidFill>
            <a:srgbClr val="F0803C"/>
          </a:solidFill>
          <a:ln/>
        </p:spPr>
      </p:sp>
      <p:sp>
        <p:nvSpPr>
          <p:cNvPr id="59" name="Text 57"/>
          <p:cNvSpPr/>
          <p:nvPr/>
        </p:nvSpPr>
        <p:spPr>
          <a:xfrm>
            <a:off x="8402117" y="5162931"/>
            <a:ext cx="219456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1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731301" y="4994910"/>
            <a:ext cx="2573426" cy="537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Угода блокується на 7 днів (Trade Hold)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365541" y="5577840"/>
            <a:ext cx="2930042" cy="457200"/>
          </a:xfrm>
          <a:prstGeom prst="roundRect">
            <a:avLst>
              <a:gd name="adj" fmla="val 50000"/>
            </a:avLst>
          </a:prstGeom>
          <a:solidFill>
            <a:srgbClr val="5EEAD4">
              <a:alpha val="13000"/>
            </a:srgbClr>
          </a:solidFill>
          <a:ln w="12700">
            <a:solidFill>
              <a:srgbClr val="5EEAD4">
                <a:alpha val="4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65541" y="5577840"/>
            <a:ext cx="2930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Обрана модель для SkinHex</a:t>
            </a:r>
            <a:endParaRPr lang="en-US" sz="105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CDDB329-DAB5-09BD-DB86-3668201DB5D0}"/>
              </a:ext>
            </a:extLst>
          </p:cNvPr>
          <p:cNvSpPr txBox="1"/>
          <p:nvPr/>
        </p:nvSpPr>
        <p:spPr>
          <a:xfrm>
            <a:off x="11750040" y="6564075"/>
            <a:ext cx="384295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ru-RU" sz="1400" b="0" i="0" dirty="0">
                <a:solidFill>
                  <a:srgbClr val="7D8393"/>
                </a:solidFill>
                <a:latin typeface="Arial"/>
              </a:rPr>
              <a:t>3</a:t>
            </a:r>
            <a:endParaRPr sz="1400" b="0" i="0" dirty="0">
              <a:solidFill>
                <a:srgbClr val="7D8393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005840"/>
            <a:ext cx="2743200" cy="2359152"/>
          </a:xfrm>
          <a:prstGeom prst="hexagon">
            <a:avLst/>
          </a:prstGeom>
          <a:ln w="15875">
            <a:solidFill>
              <a:srgbClr val="F0803C">
                <a:alpha val="7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F0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РОЗДІЛ 1 — АНАЛІЗ ПРЕДМЕТНОЇ ГАЛУЗІ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Аналіз аналогів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52144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Жодна з провідних платформ не поєднує низькі комісії, глобальну доступність і справедливу оцінку рідкісних предметів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442106" cy="4572000"/>
          </a:xfrm>
          <a:prstGeom prst="roundRect">
            <a:avLst>
              <a:gd name="adj" fmla="val 3188"/>
            </a:avLst>
          </a:prstGeom>
          <a:solidFill>
            <a:srgbClr val="171A21"/>
          </a:solidFill>
          <a:ln/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1947672"/>
            <a:ext cx="457200" cy="393192"/>
          </a:xfrm>
          <a:prstGeom prst="hexagon">
            <a:avLst/>
          </a:prstGeom>
          <a:ln w="17780">
            <a:solidFill>
              <a:srgbClr val="F080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47672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0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4090" y="1868424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B1F28"/>
          </a:solidFill>
          <a:ln w="12700">
            <a:solidFill>
              <a:srgbClr val="7D8393">
                <a:alpha val="60000"/>
              </a:srgbClr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314090" y="19293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481328" y="1911096"/>
            <a:ext cx="16956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Buff163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96112" y="2478024"/>
            <a:ext cx="2930042" cy="274320"/>
          </a:xfrm>
          <a:prstGeom prst="roundRect">
            <a:avLst>
              <a:gd name="adj" fmla="val 50000"/>
            </a:avLst>
          </a:prstGeom>
          <a:ln w="12700">
            <a:solidFill>
              <a:srgbClr val="7D8393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478024"/>
            <a:ext cx="293004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kern="0" spc="5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P2P / Order-book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4400" y="3318129"/>
            <a:ext cx="64008" cy="64008"/>
          </a:xfrm>
          <a:prstGeom prst="ellipse">
            <a:avLst/>
          </a:prstGeom>
          <a:solidFill>
            <a:srgbClr val="7D8393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044952"/>
            <a:ext cx="2728874" cy="610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Комісія лише 1.5% — найнижча на ринку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3928491"/>
            <a:ext cx="64008" cy="64008"/>
          </a:xfrm>
          <a:prstGeom prst="ellipse">
            <a:avLst/>
          </a:prstGeom>
          <a:solidFill>
            <a:srgbClr val="7D8393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655314"/>
            <a:ext cx="2728874" cy="610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Найвища ліквідність, глибока аналітика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4538853"/>
            <a:ext cx="64008" cy="64008"/>
          </a:xfrm>
          <a:prstGeom prst="ellipse">
            <a:avLst/>
          </a:prstGeom>
          <a:solidFill>
            <a:srgbClr val="7D8393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265676"/>
            <a:ext cx="2728874" cy="610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Реєстрація лише для резидентів Китаю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5149215"/>
            <a:ext cx="64008" cy="64008"/>
          </a:xfrm>
          <a:prstGeom prst="ellipse">
            <a:avLst/>
          </a:prstGeom>
          <a:solidFill>
            <a:srgbClr val="7D8393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4876038"/>
            <a:ext cx="2728874" cy="610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Виведення коштів тільки через Alipay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6112" y="5577840"/>
            <a:ext cx="2930042" cy="457200"/>
          </a:xfrm>
          <a:prstGeom prst="roundRect">
            <a:avLst>
              <a:gd name="adj" fmla="val 50000"/>
            </a:avLst>
          </a:prstGeom>
          <a:solidFill>
            <a:srgbClr val="F0803C">
              <a:alpha val="13000"/>
            </a:srgbClr>
          </a:solidFill>
          <a:ln w="12700">
            <a:solidFill>
              <a:srgbClr val="F0803C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5577840"/>
            <a:ext cx="2930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Недоступний для України та ЄС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74794" y="1691640"/>
            <a:ext cx="3442106" cy="4572000"/>
          </a:xfrm>
          <a:prstGeom prst="roundRect">
            <a:avLst>
              <a:gd name="adj" fmla="val 3188"/>
            </a:avLst>
          </a:prstGeom>
          <a:solidFill>
            <a:srgbClr val="171A21"/>
          </a:solidFill>
          <a:ln/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30826" y="1947672"/>
            <a:ext cx="457200" cy="393192"/>
          </a:xfrm>
          <a:prstGeom prst="hexagon">
            <a:avLst/>
          </a:prstGeom>
          <a:ln w="17780">
            <a:solidFill>
              <a:srgbClr val="F080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30826" y="1947672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0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048805" y="1876044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B1F28"/>
          </a:solidFill>
          <a:ln w="12700">
            <a:solidFill>
              <a:srgbClr val="7D8393">
                <a:alpha val="60000"/>
              </a:srgbClr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7048805" y="19293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216042" y="1911096"/>
            <a:ext cx="16956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CSFloat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4630826" y="2478024"/>
            <a:ext cx="2930042" cy="274320"/>
          </a:xfrm>
          <a:prstGeom prst="roundRect">
            <a:avLst>
              <a:gd name="adj" fmla="val 50000"/>
            </a:avLst>
          </a:prstGeom>
          <a:ln w="12700">
            <a:solidFill>
              <a:srgbClr val="7D8393">
                <a:alpha val="7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30826" y="2478024"/>
            <a:ext cx="293004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kern="0" spc="5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P2P-маркетплейс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49114" y="3318129"/>
            <a:ext cx="64008" cy="64008"/>
          </a:xfrm>
          <a:prstGeom prst="ellipse">
            <a:avLst/>
          </a:prstGeom>
          <a:solidFill>
            <a:srgbClr val="7D8393"/>
          </a:solidFill>
          <a:ln/>
        </p:spPr>
      </p:sp>
      <p:sp>
        <p:nvSpPr>
          <p:cNvPr id="33" name="Text 31"/>
          <p:cNvSpPr/>
          <p:nvPr/>
        </p:nvSpPr>
        <p:spPr>
          <a:xfrm>
            <a:off x="4831994" y="3044952"/>
            <a:ext cx="2728874" cy="610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Аукціони та прямі offers, без API-ключа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49114" y="3928491"/>
            <a:ext cx="64008" cy="64008"/>
          </a:xfrm>
          <a:prstGeom prst="ellipse">
            <a:avLst/>
          </a:prstGeom>
          <a:solidFill>
            <a:srgbClr val="7D8393"/>
          </a:solidFill>
          <a:ln/>
        </p:spPr>
      </p:sp>
      <p:sp>
        <p:nvSpPr>
          <p:cNvPr id="35" name="Text 33"/>
          <p:cNvSpPr/>
          <p:nvPr/>
        </p:nvSpPr>
        <p:spPr>
          <a:xfrm>
            <a:off x="4831994" y="3655314"/>
            <a:ext cx="2728874" cy="610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Подвійна комісія: продаж + вивід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49114" y="4538853"/>
            <a:ext cx="64008" cy="64008"/>
          </a:xfrm>
          <a:prstGeom prst="ellipse">
            <a:avLst/>
          </a:prstGeom>
          <a:solidFill>
            <a:srgbClr val="7D8393"/>
          </a:solidFill>
          <a:ln/>
        </p:spPr>
      </p:sp>
      <p:sp>
        <p:nvSpPr>
          <p:cNvPr id="37" name="Text 35"/>
          <p:cNvSpPr/>
          <p:nvPr/>
        </p:nvSpPr>
        <p:spPr>
          <a:xfrm>
            <a:off x="4831994" y="4265676"/>
            <a:ext cx="2728874" cy="610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Виведення коштів — фіксовано 3 дні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49114" y="5149215"/>
            <a:ext cx="64008" cy="64008"/>
          </a:xfrm>
          <a:prstGeom prst="ellipse">
            <a:avLst/>
          </a:prstGeom>
          <a:solidFill>
            <a:srgbClr val="7D8393"/>
          </a:solidFill>
          <a:ln/>
        </p:spPr>
      </p:sp>
      <p:sp>
        <p:nvSpPr>
          <p:cNvPr id="39" name="Text 37"/>
          <p:cNvSpPr/>
          <p:nvPr/>
        </p:nvSpPr>
        <p:spPr>
          <a:xfrm>
            <a:off x="4831994" y="4876038"/>
            <a:ext cx="2728874" cy="610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Практично відсутня аналітика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30826" y="5577840"/>
            <a:ext cx="2930042" cy="457200"/>
          </a:xfrm>
          <a:prstGeom prst="roundRect">
            <a:avLst>
              <a:gd name="adj" fmla="val 50000"/>
            </a:avLst>
          </a:prstGeom>
          <a:solidFill>
            <a:srgbClr val="F0803C">
              <a:alpha val="13000"/>
            </a:srgbClr>
          </a:solidFill>
          <a:ln w="12700">
            <a:solidFill>
              <a:srgbClr val="F0803C">
                <a:alpha val="4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30826" y="5577840"/>
            <a:ext cx="2930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Подвійні комісії та затримки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109509" y="1691640"/>
            <a:ext cx="3442106" cy="4572000"/>
          </a:xfrm>
          <a:prstGeom prst="roundRect">
            <a:avLst>
              <a:gd name="adj" fmla="val 3188"/>
            </a:avLst>
          </a:prstGeom>
          <a:solidFill>
            <a:srgbClr val="171A21"/>
          </a:solidFill>
          <a:ln/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365541" y="1947672"/>
            <a:ext cx="457200" cy="393192"/>
          </a:xfrm>
          <a:prstGeom prst="hexagon">
            <a:avLst/>
          </a:prstGeom>
          <a:ln w="17780">
            <a:solidFill>
              <a:srgbClr val="F080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65541" y="1947672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0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10783519" y="1863090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B1F28"/>
          </a:solidFill>
          <a:ln w="12700">
            <a:solidFill>
              <a:srgbClr val="7D8393">
                <a:alpha val="60000"/>
              </a:srgbClr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10783519" y="19293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8950757" y="1911096"/>
            <a:ext cx="16956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Lis-Skins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8365541" y="2478024"/>
            <a:ext cx="2930042" cy="274320"/>
          </a:xfrm>
          <a:prstGeom prst="roundRect">
            <a:avLst>
              <a:gd name="adj" fmla="val 50000"/>
            </a:avLst>
          </a:prstGeom>
          <a:ln w="12700">
            <a:solidFill>
              <a:srgbClr val="7D8393">
                <a:alpha val="7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65541" y="2478024"/>
            <a:ext cx="293004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kern="0" spc="5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Buyout-платформа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383829" y="3318129"/>
            <a:ext cx="64008" cy="64008"/>
          </a:xfrm>
          <a:prstGeom prst="ellipse">
            <a:avLst/>
          </a:prstGeom>
          <a:solidFill>
            <a:srgbClr val="7D8393"/>
          </a:solidFill>
          <a:ln/>
        </p:spPr>
      </p:sp>
      <p:sp>
        <p:nvSpPr>
          <p:cNvPr id="51" name="Text 49"/>
          <p:cNvSpPr/>
          <p:nvPr/>
        </p:nvSpPr>
        <p:spPr>
          <a:xfrm>
            <a:off x="8566709" y="3044952"/>
            <a:ext cx="2728874" cy="610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Миттєва виплата без очікування покупця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383829" y="3928491"/>
            <a:ext cx="64008" cy="64008"/>
          </a:xfrm>
          <a:prstGeom prst="ellipse">
            <a:avLst/>
          </a:prstGeom>
          <a:solidFill>
            <a:srgbClr val="7D8393"/>
          </a:solidFill>
          <a:ln/>
        </p:spPr>
      </p:sp>
      <p:sp>
        <p:nvSpPr>
          <p:cNvPr id="53" name="Text 51"/>
          <p:cNvSpPr/>
          <p:nvPr/>
        </p:nvSpPr>
        <p:spPr>
          <a:xfrm>
            <a:off x="8566709" y="3655314"/>
            <a:ext cx="2728874" cy="610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Розвинена система депозитів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383829" y="4538853"/>
            <a:ext cx="64008" cy="64008"/>
          </a:xfrm>
          <a:prstGeom prst="ellipse">
            <a:avLst/>
          </a:prstGeom>
          <a:solidFill>
            <a:srgbClr val="7D8393"/>
          </a:solidFill>
          <a:ln/>
        </p:spPr>
      </p:sp>
      <p:sp>
        <p:nvSpPr>
          <p:cNvPr id="55" name="Text 53"/>
          <p:cNvSpPr/>
          <p:nvPr/>
        </p:nvSpPr>
        <p:spPr>
          <a:xfrm>
            <a:off x="8566709" y="4265676"/>
            <a:ext cx="2728874" cy="610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Дисконт до 40% нижче ринкової ціни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383829" y="5149215"/>
            <a:ext cx="64008" cy="64008"/>
          </a:xfrm>
          <a:prstGeom prst="ellipse">
            <a:avLst/>
          </a:prstGeom>
          <a:solidFill>
            <a:srgbClr val="7D8393"/>
          </a:solidFill>
          <a:ln/>
        </p:spPr>
      </p:sp>
      <p:sp>
        <p:nvSpPr>
          <p:cNvPr id="57" name="Text 55"/>
          <p:cNvSpPr/>
          <p:nvPr/>
        </p:nvSpPr>
        <p:spPr>
          <a:xfrm>
            <a:off x="8566709" y="4876038"/>
            <a:ext cx="2728874" cy="610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Ігнорує float, pattern, наліпки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365541" y="5577840"/>
            <a:ext cx="2930042" cy="457200"/>
          </a:xfrm>
          <a:prstGeom prst="roundRect">
            <a:avLst>
              <a:gd name="adj" fmla="val 50000"/>
            </a:avLst>
          </a:prstGeom>
          <a:solidFill>
            <a:srgbClr val="F0803C">
              <a:alpha val="13000"/>
            </a:srgbClr>
          </a:solidFill>
          <a:ln w="12700">
            <a:solidFill>
              <a:srgbClr val="F0803C">
                <a:alpha val="45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365541" y="5577840"/>
            <a:ext cx="2930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−38% від реальної вартості</a:t>
            </a:r>
            <a:endParaRPr lang="en-US" sz="1050" dirty="0"/>
          </a:p>
        </p:txBody>
      </p:sp>
      <p:sp>
        <p:nvSpPr>
          <p:cNvPr id="60" name="AutoShape 2" descr="Buff163 - NamuWiki">
            <a:extLst>
              <a:ext uri="{FF2B5EF4-FFF2-40B4-BE49-F238E27FC236}">
                <a16:creationId xmlns:a16="http://schemas.microsoft.com/office/drawing/2014/main" id="{9C67D2AD-B3C5-BAE2-7725-F3294C7FB9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UA"/>
          </a:p>
        </p:txBody>
      </p:sp>
      <p:sp>
        <p:nvSpPr>
          <p:cNvPr id="61" name="AutoShape 4" descr="Buff163 - NamuWiki">
            <a:extLst>
              <a:ext uri="{FF2B5EF4-FFF2-40B4-BE49-F238E27FC236}">
                <a16:creationId xmlns:a16="http://schemas.microsoft.com/office/drawing/2014/main" id="{B4D25CDF-21AB-F6B0-2551-036F23DAEB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UA"/>
          </a:p>
        </p:txBody>
      </p:sp>
      <p:pic>
        <p:nvPicPr>
          <p:cNvPr id="64" name="Рисунок 63">
            <a:extLst>
              <a:ext uri="{FF2B5EF4-FFF2-40B4-BE49-F238E27FC236}">
                <a16:creationId xmlns:a16="http://schemas.microsoft.com/office/drawing/2014/main" id="{289625A5-1EDB-5762-66AE-C7A8458A8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5522" y="1862523"/>
            <a:ext cx="529200" cy="529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6" name="Рисунок 65">
            <a:extLst>
              <a:ext uri="{FF2B5EF4-FFF2-40B4-BE49-F238E27FC236}">
                <a16:creationId xmlns:a16="http://schemas.microsoft.com/office/drawing/2014/main" id="{336C98AD-F93D-8A00-F04F-CEC6468B23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237" y="1866333"/>
            <a:ext cx="529200" cy="529200"/>
          </a:xfrm>
          <a:prstGeom prst="rect">
            <a:avLst/>
          </a:prstGeom>
          <a:ln/>
        </p:spPr>
      </p:pic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EFD0595C-6021-8C8C-6E22-680C0A1E5C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5222" y="1857384"/>
            <a:ext cx="529200" cy="529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EB4DC119-309F-379B-6804-180266C2012E}"/>
              </a:ext>
            </a:extLst>
          </p:cNvPr>
          <p:cNvSpPr txBox="1"/>
          <p:nvPr/>
        </p:nvSpPr>
        <p:spPr>
          <a:xfrm>
            <a:off x="11750040" y="6564075"/>
            <a:ext cx="384295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ru-RU" sz="1400" dirty="0">
                <a:solidFill>
                  <a:srgbClr val="7D8393"/>
                </a:solidFill>
                <a:latin typeface="Arial"/>
              </a:rPr>
              <a:t>4</a:t>
            </a:r>
            <a:endParaRPr sz="1400" b="0" i="0" dirty="0">
              <a:solidFill>
                <a:srgbClr val="7D8393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188720"/>
            <a:ext cx="3108960" cy="2673706"/>
          </a:xfrm>
          <a:prstGeom prst="hexagon">
            <a:avLst/>
          </a:prstGeom>
          <a:ln w="15240">
            <a:solidFill>
              <a:srgbClr val="F0803C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100" b="1" kern="0" spc="250" noProof="1">
                <a:solidFill>
                  <a:srgbClr val="F0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ПОСТАНОВКА ЗАДАЧІ</a:t>
            </a:r>
            <a:endParaRPr lang="uk-UA" sz="1100" noProof="1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2600" b="1" noProof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 та завдання роботи</a:t>
            </a:r>
            <a:endParaRPr lang="uk-UA" sz="2600" noProof="1"/>
          </a:p>
        </p:txBody>
      </p:sp>
      <p:sp>
        <p:nvSpPr>
          <p:cNvPr id="5" name="Shape 3"/>
          <p:cNvSpPr/>
          <p:nvPr/>
        </p:nvSpPr>
        <p:spPr>
          <a:xfrm>
            <a:off x="640080" y="1298448"/>
            <a:ext cx="11186160" cy="1371600"/>
          </a:xfrm>
          <a:prstGeom prst="roundRect">
            <a:avLst>
              <a:gd name="adj" fmla="val 8000"/>
            </a:avLst>
          </a:prstGeom>
          <a:solidFill>
            <a:srgbClr val="171A21"/>
          </a:solidFill>
          <a:ln w="12700">
            <a:solidFill>
              <a:srgbClr val="F0803C">
                <a:alpha val="4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6" name="Text 4"/>
          <p:cNvSpPr/>
          <p:nvPr/>
        </p:nvSpPr>
        <p:spPr>
          <a:xfrm>
            <a:off x="777240" y="1042416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1000" b="1" noProof="1">
                <a:solidFill>
                  <a:srgbClr val="F0803C">
                    <a:alpha val="2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uk-UA" sz="11000" noProof="1"/>
          </a:p>
        </p:txBody>
      </p:sp>
      <p:sp>
        <p:nvSpPr>
          <p:cNvPr id="7" name="Shape 5"/>
          <p:cNvSpPr/>
          <p:nvPr/>
        </p:nvSpPr>
        <p:spPr>
          <a:xfrm>
            <a:off x="1024128" y="153619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0803C">
              <a:alpha val="15000"/>
            </a:srgbClr>
          </a:solidFill>
          <a:ln/>
        </p:spPr>
        <p:txBody>
          <a:bodyPr/>
          <a:lstStyle/>
          <a:p>
            <a:endParaRPr lang="uk-UA" noProof="1"/>
          </a:p>
        </p:txBody>
      </p:sp>
      <p:sp>
        <p:nvSpPr>
          <p:cNvPr id="8" name="Text 6"/>
          <p:cNvSpPr/>
          <p:nvPr/>
        </p:nvSpPr>
        <p:spPr>
          <a:xfrm>
            <a:off x="1024128" y="1536192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100" b="1" kern="0" spc="150" noProof="1">
                <a:solidFill>
                  <a:srgbClr val="F0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</a:t>
            </a:r>
            <a:endParaRPr lang="uk-UA" sz="1100" noProof="1"/>
          </a:p>
        </p:txBody>
      </p:sp>
      <p:sp>
        <p:nvSpPr>
          <p:cNvPr id="9" name="Text 7"/>
          <p:cNvSpPr/>
          <p:nvPr/>
        </p:nvSpPr>
        <p:spPr>
          <a:xfrm>
            <a:off x="845820" y="1920240"/>
            <a:ext cx="111145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uk-UA" sz="1500" noProof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Спроєктувати та розробити комплексну вебплатформу P2P-маркетплейсу SkinHex для торгівлі віртуальними предметами CS2, що виступатиме фінансовим гарантом угод і забезпечить безпечний та зручний обмін між користувачами.</a:t>
            </a:r>
            <a:endParaRPr lang="uk-UA" sz="1500" noProof="1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100" b="1" kern="0" spc="200" noProof="1">
                <a:solidFill>
                  <a:srgbClr val="7D83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ЗАВДАННЯ РОБОТИ</a:t>
            </a:r>
            <a:endParaRPr lang="uk-UA" sz="1100" noProof="1"/>
          </a:p>
        </p:txBody>
      </p:sp>
      <p:sp>
        <p:nvSpPr>
          <p:cNvPr id="11" name="Shape 9"/>
          <p:cNvSpPr/>
          <p:nvPr/>
        </p:nvSpPr>
        <p:spPr>
          <a:xfrm>
            <a:off x="640080" y="3255264"/>
            <a:ext cx="10911535" cy="0"/>
          </a:xfrm>
          <a:prstGeom prst="line">
            <a:avLst/>
          </a:prstGeom>
          <a:noFill/>
          <a:ln w="9525">
            <a:solidFill>
              <a:srgbClr val="7D839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2" name="Shape 11"/>
          <p:cNvSpPr/>
          <p:nvPr/>
        </p:nvSpPr>
        <p:spPr>
          <a:xfrm>
            <a:off x="640080" y="3609594"/>
            <a:ext cx="384048" cy="329184"/>
          </a:xfrm>
          <a:prstGeom prst="hexagon">
            <a:avLst/>
          </a:prstGeom>
          <a:ln w="16510">
            <a:solidFill>
              <a:srgbClr val="F0803C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3" name="Text 12"/>
          <p:cNvSpPr/>
          <p:nvPr/>
        </p:nvSpPr>
        <p:spPr>
          <a:xfrm>
            <a:off x="640080" y="3609594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100" b="1" noProof="1">
                <a:solidFill>
                  <a:srgbClr val="F0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uk-UA" sz="1100" noProof="1"/>
          </a:p>
        </p:txBody>
      </p:sp>
      <p:sp>
        <p:nvSpPr>
          <p:cNvPr id="14" name="Text 13"/>
          <p:cNvSpPr/>
          <p:nvPr/>
        </p:nvSpPr>
        <p:spPr>
          <a:xfrm>
            <a:off x="1170432" y="3534186"/>
            <a:ext cx="10381488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uk-UA" sz="1300" noProof="1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Провести аналіз предметної галузі, дослідити бізнес-моделі конкурентних рішень та виявити їхні ключові недоліки</a:t>
            </a:r>
            <a:endParaRPr lang="uk-UA" sz="1300" noProof="1"/>
          </a:p>
        </p:txBody>
      </p:sp>
      <p:sp>
        <p:nvSpPr>
          <p:cNvPr id="15" name="Shape 14"/>
          <p:cNvSpPr/>
          <p:nvPr/>
        </p:nvSpPr>
        <p:spPr>
          <a:xfrm>
            <a:off x="640080" y="4179275"/>
            <a:ext cx="384048" cy="329184"/>
          </a:xfrm>
          <a:prstGeom prst="hexagon">
            <a:avLst/>
          </a:prstGeom>
          <a:ln w="16510">
            <a:solidFill>
              <a:srgbClr val="F0803C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6" name="Text 15"/>
          <p:cNvSpPr/>
          <p:nvPr/>
        </p:nvSpPr>
        <p:spPr>
          <a:xfrm>
            <a:off x="640080" y="4179275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100" b="1" noProof="1">
                <a:solidFill>
                  <a:srgbClr val="F0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uk-UA" sz="1100" noProof="1"/>
          </a:p>
        </p:txBody>
      </p:sp>
      <p:sp>
        <p:nvSpPr>
          <p:cNvPr id="17" name="Text 16"/>
          <p:cNvSpPr/>
          <p:nvPr/>
        </p:nvSpPr>
        <p:spPr>
          <a:xfrm>
            <a:off x="1170432" y="4103867"/>
            <a:ext cx="10381488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uk-UA" sz="1300" noProof="1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Сформувати функціональні та нефункціональні вимоги до програмної системи</a:t>
            </a:r>
            <a:endParaRPr lang="uk-UA" sz="1300" noProof="1"/>
          </a:p>
        </p:txBody>
      </p:sp>
      <p:sp>
        <p:nvSpPr>
          <p:cNvPr id="18" name="Shape 17"/>
          <p:cNvSpPr/>
          <p:nvPr/>
        </p:nvSpPr>
        <p:spPr>
          <a:xfrm>
            <a:off x="640080" y="4748956"/>
            <a:ext cx="384048" cy="329184"/>
          </a:xfrm>
          <a:prstGeom prst="hexagon">
            <a:avLst/>
          </a:prstGeom>
          <a:ln w="16510">
            <a:solidFill>
              <a:srgbClr val="F0803C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9" name="Text 18"/>
          <p:cNvSpPr/>
          <p:nvPr/>
        </p:nvSpPr>
        <p:spPr>
          <a:xfrm>
            <a:off x="640080" y="4748956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100" b="1" noProof="1">
                <a:solidFill>
                  <a:srgbClr val="F0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uk-UA" sz="1100" noProof="1"/>
          </a:p>
        </p:txBody>
      </p:sp>
      <p:sp>
        <p:nvSpPr>
          <p:cNvPr id="20" name="Text 19"/>
          <p:cNvSpPr/>
          <p:nvPr/>
        </p:nvSpPr>
        <p:spPr>
          <a:xfrm>
            <a:off x="1170432" y="4673548"/>
            <a:ext cx="10381488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uk-UA" sz="1300" noProof="1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Спроєктувати архітектуру програмного забезпечення та структуру бази даних</a:t>
            </a:r>
            <a:endParaRPr lang="uk-UA" sz="1300" noProof="1"/>
          </a:p>
        </p:txBody>
      </p:sp>
      <p:sp>
        <p:nvSpPr>
          <p:cNvPr id="21" name="Shape 20"/>
          <p:cNvSpPr/>
          <p:nvPr/>
        </p:nvSpPr>
        <p:spPr>
          <a:xfrm>
            <a:off x="640080" y="5318637"/>
            <a:ext cx="384048" cy="329184"/>
          </a:xfrm>
          <a:prstGeom prst="hexagon">
            <a:avLst/>
          </a:prstGeom>
          <a:ln w="16510">
            <a:solidFill>
              <a:srgbClr val="F0803C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22" name="Text 21"/>
          <p:cNvSpPr/>
          <p:nvPr/>
        </p:nvSpPr>
        <p:spPr>
          <a:xfrm>
            <a:off x="640080" y="5318637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100" b="1" noProof="1">
                <a:solidFill>
                  <a:srgbClr val="F0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uk-UA" sz="1100" noProof="1"/>
          </a:p>
        </p:txBody>
      </p:sp>
      <p:sp>
        <p:nvSpPr>
          <p:cNvPr id="23" name="Text 22"/>
          <p:cNvSpPr/>
          <p:nvPr/>
        </p:nvSpPr>
        <p:spPr>
          <a:xfrm>
            <a:off x="1170432" y="5243229"/>
            <a:ext cx="10381488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uk-UA" sz="1300" noProof="1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Реалізувати програмні рішення, що забезпечують безпечність і відмовостійкість P2P-угод</a:t>
            </a:r>
            <a:endParaRPr lang="uk-UA" sz="1300" noProof="1"/>
          </a:p>
        </p:txBody>
      </p:sp>
      <p:sp>
        <p:nvSpPr>
          <p:cNvPr id="24" name="Shape 23"/>
          <p:cNvSpPr/>
          <p:nvPr/>
        </p:nvSpPr>
        <p:spPr>
          <a:xfrm>
            <a:off x="640080" y="5888318"/>
            <a:ext cx="384048" cy="329184"/>
          </a:xfrm>
          <a:prstGeom prst="hexagon">
            <a:avLst/>
          </a:prstGeom>
          <a:ln w="16510">
            <a:solidFill>
              <a:srgbClr val="F0803C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25" name="Text 24"/>
          <p:cNvSpPr/>
          <p:nvPr/>
        </p:nvSpPr>
        <p:spPr>
          <a:xfrm>
            <a:off x="640080" y="5888318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100" b="1" noProof="1">
                <a:solidFill>
                  <a:srgbClr val="F0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uk-UA" sz="1100" noProof="1"/>
          </a:p>
        </p:txBody>
      </p:sp>
      <p:sp>
        <p:nvSpPr>
          <p:cNvPr id="26" name="Text 25"/>
          <p:cNvSpPr/>
          <p:nvPr/>
        </p:nvSpPr>
        <p:spPr>
          <a:xfrm>
            <a:off x="1170432" y="5812910"/>
            <a:ext cx="10381488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uk-UA" sz="1300" noProof="1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Провести тестування розробленого програмного забезпечення</a:t>
            </a:r>
            <a:endParaRPr lang="uk-UA" sz="1300" noProof="1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0F66C8-1112-85BC-2D8E-5878F9C04FE2}"/>
              </a:ext>
            </a:extLst>
          </p:cNvPr>
          <p:cNvSpPr txBox="1"/>
          <p:nvPr/>
        </p:nvSpPr>
        <p:spPr>
          <a:xfrm>
            <a:off x="11750040" y="6564075"/>
            <a:ext cx="384295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ru-RU" sz="1400" b="0" i="0" dirty="0">
                <a:solidFill>
                  <a:srgbClr val="7D8393"/>
                </a:solidFill>
                <a:latin typeface="Arial"/>
              </a:rPr>
              <a:t>5</a:t>
            </a:r>
            <a:endParaRPr sz="1400" b="0" i="0" dirty="0">
              <a:solidFill>
                <a:srgbClr val="7D8393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5303520"/>
            <a:ext cx="2560320" cy="2201875"/>
          </a:xfrm>
          <a:prstGeom prst="hexagon">
            <a:avLst/>
          </a:prstGeom>
          <a:ln w="15240">
            <a:solidFill>
              <a:srgbClr val="F0803C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100" b="1" kern="0" spc="250" noProof="1">
                <a:solidFill>
                  <a:srgbClr val="F0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РОЗДІЛ 2 — ФОРМУВАННЯ ВИМОГ</a:t>
            </a:r>
            <a:endParaRPr lang="uk-UA" sz="1100" noProof="1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2500" b="1" noProof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Функціональні та нефункціональні вимоги</a:t>
            </a:r>
            <a:endParaRPr lang="uk-UA" sz="2500" noProof="1"/>
          </a:p>
        </p:txBody>
      </p:sp>
      <p:sp>
        <p:nvSpPr>
          <p:cNvPr id="5" name="Text 3"/>
          <p:cNvSpPr/>
          <p:nvPr/>
        </p:nvSpPr>
        <p:spPr>
          <a:xfrm>
            <a:off x="640080" y="1133856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250" noProof="1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Вимоги згруповано за функціональними модулями системи та атрибутами якості за стандартом ISO/IEC 25010</a:t>
            </a:r>
            <a:endParaRPr lang="uk-UA" sz="1250" noProof="1"/>
          </a:p>
        </p:txBody>
      </p:sp>
      <p:sp>
        <p:nvSpPr>
          <p:cNvPr id="6" name="Shape 4"/>
          <p:cNvSpPr/>
          <p:nvPr/>
        </p:nvSpPr>
        <p:spPr>
          <a:xfrm>
            <a:off x="640080" y="1627632"/>
            <a:ext cx="5309464" cy="4709160"/>
          </a:xfrm>
          <a:prstGeom prst="roundRect">
            <a:avLst>
              <a:gd name="adj" fmla="val 2330"/>
            </a:avLst>
          </a:prstGeom>
          <a:solidFill>
            <a:srgbClr val="171A21"/>
          </a:solidFill>
          <a:ln/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7" name="Text 5"/>
          <p:cNvSpPr/>
          <p:nvPr/>
        </p:nvSpPr>
        <p:spPr>
          <a:xfrm>
            <a:off x="960120" y="1847088"/>
            <a:ext cx="466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200" b="1" kern="0" spc="150" noProof="1">
                <a:solidFill>
                  <a:srgbClr val="F0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ФУНКЦІОНАЛЬНІ ВИМОГИ</a:t>
            </a:r>
            <a:endParaRPr lang="uk-UA" sz="1200" noProof="1"/>
          </a:p>
        </p:txBody>
      </p:sp>
      <p:sp>
        <p:nvSpPr>
          <p:cNvPr id="8" name="Shape 6"/>
          <p:cNvSpPr/>
          <p:nvPr/>
        </p:nvSpPr>
        <p:spPr>
          <a:xfrm>
            <a:off x="960120" y="2401062"/>
            <a:ext cx="365760" cy="310896"/>
          </a:xfrm>
          <a:prstGeom prst="hexagon">
            <a:avLst/>
          </a:prstGeom>
          <a:ln w="16510">
            <a:solidFill>
              <a:srgbClr val="F0803C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9" name="Text 7"/>
          <p:cNvSpPr/>
          <p:nvPr/>
        </p:nvSpPr>
        <p:spPr>
          <a:xfrm>
            <a:off x="960120" y="2401062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000" b="1" noProof="1">
                <a:solidFill>
                  <a:srgbClr val="F0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uk-UA" sz="1000" noProof="1"/>
          </a:p>
        </p:txBody>
      </p:sp>
      <p:sp>
        <p:nvSpPr>
          <p:cNvPr id="10" name="Text 8"/>
          <p:cNvSpPr/>
          <p:nvPr/>
        </p:nvSpPr>
        <p:spPr>
          <a:xfrm>
            <a:off x="1463040" y="2249424"/>
            <a:ext cx="4212184" cy="650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uk-UA" sz="1250" b="1" noProof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Обліковий запис і профіль
</a:t>
            </a:r>
            <a:r>
              <a:rPr lang="uk-UA" sz="1050" noProof="1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 OpenID, підтвердження email, Trade URL, синхронізація розширення</a:t>
            </a:r>
            <a:endParaRPr lang="uk-UA" sz="1250" noProof="1"/>
          </a:p>
        </p:txBody>
      </p:sp>
      <p:sp>
        <p:nvSpPr>
          <p:cNvPr id="11" name="Shape 9"/>
          <p:cNvSpPr/>
          <p:nvPr/>
        </p:nvSpPr>
        <p:spPr>
          <a:xfrm>
            <a:off x="960120" y="3051810"/>
            <a:ext cx="365760" cy="310896"/>
          </a:xfrm>
          <a:prstGeom prst="hexagon">
            <a:avLst/>
          </a:prstGeom>
          <a:ln w="16510">
            <a:solidFill>
              <a:srgbClr val="F0803C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2" name="Text 10"/>
          <p:cNvSpPr/>
          <p:nvPr/>
        </p:nvSpPr>
        <p:spPr>
          <a:xfrm>
            <a:off x="960120" y="3051810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000" b="1" noProof="1">
                <a:solidFill>
                  <a:srgbClr val="F0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uk-UA" sz="1000" noProof="1"/>
          </a:p>
        </p:txBody>
      </p:sp>
      <p:sp>
        <p:nvSpPr>
          <p:cNvPr id="13" name="Text 11"/>
          <p:cNvSpPr/>
          <p:nvPr/>
        </p:nvSpPr>
        <p:spPr>
          <a:xfrm>
            <a:off x="1463040" y="2900172"/>
            <a:ext cx="4212184" cy="650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uk-UA" sz="1250" b="1" noProof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і предмети
</a:t>
            </a:r>
            <a:r>
              <a:rPr lang="uk-UA" sz="1050" noProof="1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багатофакторний пошук і фільтрація, картка предмета (float, pattern), сторінка предмету</a:t>
            </a:r>
            <a:endParaRPr lang="uk-UA" sz="1250" noProof="1"/>
          </a:p>
        </p:txBody>
      </p:sp>
      <p:sp>
        <p:nvSpPr>
          <p:cNvPr id="14" name="Shape 12"/>
          <p:cNvSpPr/>
          <p:nvPr/>
        </p:nvSpPr>
        <p:spPr>
          <a:xfrm>
            <a:off x="960120" y="3702558"/>
            <a:ext cx="365760" cy="310896"/>
          </a:xfrm>
          <a:prstGeom prst="hexagon">
            <a:avLst/>
          </a:prstGeom>
          <a:ln w="16510">
            <a:solidFill>
              <a:srgbClr val="F0803C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5" name="Text 13"/>
          <p:cNvSpPr/>
          <p:nvPr/>
        </p:nvSpPr>
        <p:spPr>
          <a:xfrm>
            <a:off x="960120" y="3702558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000" b="1" noProof="1">
                <a:solidFill>
                  <a:srgbClr val="F0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uk-UA" sz="1000" noProof="1"/>
          </a:p>
        </p:txBody>
      </p:sp>
      <p:sp>
        <p:nvSpPr>
          <p:cNvPr id="16" name="Text 14"/>
          <p:cNvSpPr/>
          <p:nvPr/>
        </p:nvSpPr>
        <p:spPr>
          <a:xfrm>
            <a:off x="1463040" y="3550920"/>
            <a:ext cx="4212184" cy="650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uk-UA" sz="1250" b="1" noProof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Інвентар і лоти
</a:t>
            </a:r>
            <a:r>
              <a:rPr lang="uk-UA" sz="1050" noProof="1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синхронізація Steam-інвентаря, створення, редагування та зняття лота</a:t>
            </a:r>
            <a:endParaRPr lang="uk-UA" sz="1250" noProof="1"/>
          </a:p>
        </p:txBody>
      </p:sp>
      <p:sp>
        <p:nvSpPr>
          <p:cNvPr id="17" name="Shape 15"/>
          <p:cNvSpPr/>
          <p:nvPr/>
        </p:nvSpPr>
        <p:spPr>
          <a:xfrm>
            <a:off x="960120" y="4353306"/>
            <a:ext cx="365760" cy="310896"/>
          </a:xfrm>
          <a:prstGeom prst="hexagon">
            <a:avLst/>
          </a:prstGeom>
          <a:ln w="16510">
            <a:solidFill>
              <a:srgbClr val="F0803C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8" name="Text 16"/>
          <p:cNvSpPr/>
          <p:nvPr/>
        </p:nvSpPr>
        <p:spPr>
          <a:xfrm>
            <a:off x="960120" y="435330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000" b="1" noProof="1">
                <a:solidFill>
                  <a:srgbClr val="F0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uk-UA" sz="1000" noProof="1"/>
          </a:p>
        </p:txBody>
      </p:sp>
      <p:sp>
        <p:nvSpPr>
          <p:cNvPr id="19" name="Text 17"/>
          <p:cNvSpPr/>
          <p:nvPr/>
        </p:nvSpPr>
        <p:spPr>
          <a:xfrm>
            <a:off x="1463040" y="4201668"/>
            <a:ext cx="4212184" cy="650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uk-UA" sz="1250" b="1" noProof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P2P-угоди
</a:t>
            </a:r>
            <a:r>
              <a:rPr lang="uk-UA" sz="1050" noProof="1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ініціація купівлі, обмін Trade Offer, сповіщення, статус угоди в реальному часі</a:t>
            </a:r>
            <a:endParaRPr lang="uk-UA" sz="1250" noProof="1"/>
          </a:p>
        </p:txBody>
      </p:sp>
      <p:sp>
        <p:nvSpPr>
          <p:cNvPr id="20" name="Shape 18"/>
          <p:cNvSpPr/>
          <p:nvPr/>
        </p:nvSpPr>
        <p:spPr>
          <a:xfrm>
            <a:off x="960120" y="5004054"/>
            <a:ext cx="365760" cy="310896"/>
          </a:xfrm>
          <a:prstGeom prst="hexagon">
            <a:avLst/>
          </a:prstGeom>
          <a:ln w="16510">
            <a:solidFill>
              <a:srgbClr val="F0803C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21" name="Text 19"/>
          <p:cNvSpPr/>
          <p:nvPr/>
        </p:nvSpPr>
        <p:spPr>
          <a:xfrm>
            <a:off x="960120" y="500405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000" b="1" noProof="1">
                <a:solidFill>
                  <a:srgbClr val="F0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uk-UA" sz="1000" noProof="1"/>
          </a:p>
        </p:txBody>
      </p:sp>
      <p:sp>
        <p:nvSpPr>
          <p:cNvPr id="22" name="Text 20"/>
          <p:cNvSpPr/>
          <p:nvPr/>
        </p:nvSpPr>
        <p:spPr>
          <a:xfrm>
            <a:off x="1463040" y="4852416"/>
            <a:ext cx="4212184" cy="650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uk-UA" sz="1250" b="1" noProof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Фінансові операції
</a:t>
            </a:r>
            <a:r>
              <a:rPr lang="uk-UA" sz="1050" noProof="1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крипто-поповнення балансу, виведення коштів, історія транзакцій</a:t>
            </a:r>
            <a:endParaRPr lang="uk-UA" sz="1250" noProof="1"/>
          </a:p>
        </p:txBody>
      </p:sp>
      <p:sp>
        <p:nvSpPr>
          <p:cNvPr id="23" name="Shape 21"/>
          <p:cNvSpPr/>
          <p:nvPr/>
        </p:nvSpPr>
        <p:spPr>
          <a:xfrm>
            <a:off x="960120" y="5654802"/>
            <a:ext cx="365760" cy="310896"/>
          </a:xfrm>
          <a:prstGeom prst="hexagon">
            <a:avLst/>
          </a:prstGeom>
          <a:ln w="16510">
            <a:solidFill>
              <a:srgbClr val="F0803C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24" name="Text 22"/>
          <p:cNvSpPr/>
          <p:nvPr/>
        </p:nvSpPr>
        <p:spPr>
          <a:xfrm>
            <a:off x="960120" y="5654802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000" b="1" noProof="1">
                <a:solidFill>
                  <a:srgbClr val="F0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uk-UA" sz="1000" noProof="1"/>
          </a:p>
        </p:txBody>
      </p:sp>
      <p:sp>
        <p:nvSpPr>
          <p:cNvPr id="25" name="Text 23"/>
          <p:cNvSpPr/>
          <p:nvPr/>
        </p:nvSpPr>
        <p:spPr>
          <a:xfrm>
            <a:off x="1463040" y="5503164"/>
            <a:ext cx="4212184" cy="650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uk-UA" sz="1250" b="1" noProof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Адміністрування
</a:t>
            </a:r>
            <a:r>
              <a:rPr lang="uk-UA" sz="1050" noProof="1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модерація користувачів, вирішення спірних угод, блокування порушників, підтримка</a:t>
            </a:r>
            <a:endParaRPr lang="uk-UA" sz="1250" noProof="1"/>
          </a:p>
        </p:txBody>
      </p:sp>
      <p:sp>
        <p:nvSpPr>
          <p:cNvPr id="26" name="Shape 24"/>
          <p:cNvSpPr/>
          <p:nvPr/>
        </p:nvSpPr>
        <p:spPr>
          <a:xfrm>
            <a:off x="6242152" y="1627632"/>
            <a:ext cx="5309464" cy="4709160"/>
          </a:xfrm>
          <a:prstGeom prst="roundRect">
            <a:avLst>
              <a:gd name="adj" fmla="val 2330"/>
            </a:avLst>
          </a:prstGeom>
          <a:solidFill>
            <a:srgbClr val="171A21"/>
          </a:solidFill>
          <a:ln/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27" name="Text 25"/>
          <p:cNvSpPr/>
          <p:nvPr/>
        </p:nvSpPr>
        <p:spPr>
          <a:xfrm>
            <a:off x="6562192" y="1847088"/>
            <a:ext cx="384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200" b="1" kern="0" spc="150" noProof="1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НЕФУНКЦІОНАЛЬНІ ВИМОГИ</a:t>
            </a:r>
            <a:endParaRPr lang="uk-UA" sz="1200" noProof="1"/>
          </a:p>
        </p:txBody>
      </p:sp>
      <p:sp>
        <p:nvSpPr>
          <p:cNvPr id="28" name="Shape 26"/>
          <p:cNvSpPr/>
          <p:nvPr/>
        </p:nvSpPr>
        <p:spPr>
          <a:xfrm>
            <a:off x="10317175" y="1810512"/>
            <a:ext cx="914400" cy="256032"/>
          </a:xfrm>
          <a:prstGeom prst="roundRect">
            <a:avLst>
              <a:gd name="adj" fmla="val 50000"/>
            </a:avLst>
          </a:prstGeom>
          <a:ln w="12700">
            <a:solidFill>
              <a:srgbClr val="7D839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29" name="Text 27"/>
          <p:cNvSpPr/>
          <p:nvPr/>
        </p:nvSpPr>
        <p:spPr>
          <a:xfrm>
            <a:off x="10317175" y="18105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850" b="1" noProof="1">
                <a:solidFill>
                  <a:srgbClr val="7D83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25010</a:t>
            </a:r>
            <a:endParaRPr lang="uk-UA" sz="850" noProof="1"/>
          </a:p>
        </p:txBody>
      </p:sp>
      <p:sp>
        <p:nvSpPr>
          <p:cNvPr id="30" name="Text 28"/>
          <p:cNvSpPr/>
          <p:nvPr/>
        </p:nvSpPr>
        <p:spPr>
          <a:xfrm>
            <a:off x="6562192" y="2359152"/>
            <a:ext cx="466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250" b="1" noProof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Технологічні обмеження</a:t>
            </a:r>
            <a:endParaRPr lang="uk-UA" sz="1250" noProof="1"/>
          </a:p>
        </p:txBody>
      </p:sp>
      <p:sp>
        <p:nvSpPr>
          <p:cNvPr id="31" name="Text 29"/>
          <p:cNvSpPr/>
          <p:nvPr/>
        </p:nvSpPr>
        <p:spPr>
          <a:xfrm>
            <a:off x="6562192" y="2633472"/>
            <a:ext cx="4669384" cy="3236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uk-UA" sz="1050" noProof="1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8 / ASP.NET Core · React + TypeScript SPA · PostgreSQL · Hangfire</a:t>
            </a:r>
            <a:endParaRPr lang="uk-UA" sz="1050" noProof="1"/>
          </a:p>
        </p:txBody>
      </p:sp>
      <p:sp>
        <p:nvSpPr>
          <p:cNvPr id="32" name="Shape 30"/>
          <p:cNvSpPr/>
          <p:nvPr/>
        </p:nvSpPr>
        <p:spPr>
          <a:xfrm>
            <a:off x="6562192" y="3030322"/>
            <a:ext cx="4669384" cy="0"/>
          </a:xfrm>
          <a:prstGeom prst="line">
            <a:avLst/>
          </a:prstGeom>
          <a:noFill/>
          <a:ln w="9525">
            <a:solidFill>
              <a:srgbClr val="7D8393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33" name="Text 31"/>
          <p:cNvSpPr/>
          <p:nvPr/>
        </p:nvSpPr>
        <p:spPr>
          <a:xfrm>
            <a:off x="6562192" y="3140050"/>
            <a:ext cx="466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250" b="1" noProof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Продуктивність  </a:t>
            </a:r>
            <a:r>
              <a:rPr lang="uk-UA" sz="950" i="1" noProof="1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Efficiency</a:t>
            </a:r>
            <a:endParaRPr lang="uk-UA" sz="1250" noProof="1"/>
          </a:p>
        </p:txBody>
      </p:sp>
      <p:sp>
        <p:nvSpPr>
          <p:cNvPr id="34" name="Text 32"/>
          <p:cNvSpPr/>
          <p:nvPr/>
        </p:nvSpPr>
        <p:spPr>
          <a:xfrm>
            <a:off x="6562192" y="3414370"/>
            <a:ext cx="4669384" cy="3236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uk-UA" sz="1050" noProof="1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відгук ≤ 500 мс при 200 з'єднаннях · серверна пагінація · Lazy Fetching</a:t>
            </a:r>
            <a:endParaRPr lang="uk-UA" sz="1050" noProof="1"/>
          </a:p>
        </p:txBody>
      </p:sp>
      <p:sp>
        <p:nvSpPr>
          <p:cNvPr id="35" name="Shape 33"/>
          <p:cNvSpPr/>
          <p:nvPr/>
        </p:nvSpPr>
        <p:spPr>
          <a:xfrm>
            <a:off x="6562192" y="3811219"/>
            <a:ext cx="4669384" cy="0"/>
          </a:xfrm>
          <a:prstGeom prst="line">
            <a:avLst/>
          </a:prstGeom>
          <a:noFill/>
          <a:ln w="9525">
            <a:solidFill>
              <a:srgbClr val="7D8393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36" name="Text 34"/>
          <p:cNvSpPr/>
          <p:nvPr/>
        </p:nvSpPr>
        <p:spPr>
          <a:xfrm>
            <a:off x="6562192" y="3920947"/>
            <a:ext cx="466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250" b="1" noProof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Безпека  </a:t>
            </a:r>
            <a:r>
              <a:rPr lang="uk-UA" sz="950" i="1" noProof="1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uk-UA" sz="1250" noProof="1"/>
          </a:p>
        </p:txBody>
      </p:sp>
      <p:sp>
        <p:nvSpPr>
          <p:cNvPr id="37" name="Text 35"/>
          <p:cNvSpPr/>
          <p:nvPr/>
        </p:nvSpPr>
        <p:spPr>
          <a:xfrm>
            <a:off x="6562192" y="4166007"/>
            <a:ext cx="4669384" cy="3236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uk-UA" sz="1050" noProof="1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AES-256, JWT, TLS 1.2+ · захист від SQLi/XSS/CSRF (OWASP Top 10) · TLS Notary</a:t>
            </a:r>
            <a:endParaRPr lang="uk-UA" sz="1050" noProof="1"/>
          </a:p>
        </p:txBody>
      </p:sp>
      <p:sp>
        <p:nvSpPr>
          <p:cNvPr id="38" name="Shape 36"/>
          <p:cNvSpPr/>
          <p:nvPr/>
        </p:nvSpPr>
        <p:spPr>
          <a:xfrm>
            <a:off x="6562192" y="4592117"/>
            <a:ext cx="4669384" cy="0"/>
          </a:xfrm>
          <a:prstGeom prst="line">
            <a:avLst/>
          </a:prstGeom>
          <a:noFill/>
          <a:ln w="9525">
            <a:solidFill>
              <a:srgbClr val="7D8393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39" name="Text 37"/>
          <p:cNvSpPr/>
          <p:nvPr/>
        </p:nvSpPr>
        <p:spPr>
          <a:xfrm>
            <a:off x="6562192" y="4701845"/>
            <a:ext cx="466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250" b="1" noProof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Надійність  </a:t>
            </a:r>
            <a:r>
              <a:rPr lang="uk-UA" sz="950" i="1" noProof="1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uk-UA" sz="1250" noProof="1"/>
          </a:p>
        </p:txBody>
      </p:sp>
      <p:sp>
        <p:nvSpPr>
          <p:cNvPr id="40" name="Text 38"/>
          <p:cNvSpPr/>
          <p:nvPr/>
        </p:nvSpPr>
        <p:spPr>
          <a:xfrm>
            <a:off x="6562192" y="4976165"/>
            <a:ext cx="4669384" cy="3236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uk-UA" sz="1050" noProof="1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ACID-транзакції · Retry Policy та Circuit Breaker для збоїв Steam API</a:t>
            </a:r>
            <a:endParaRPr lang="uk-UA" sz="1050" noProof="1"/>
          </a:p>
        </p:txBody>
      </p:sp>
      <p:sp>
        <p:nvSpPr>
          <p:cNvPr id="41" name="Shape 39"/>
          <p:cNvSpPr/>
          <p:nvPr/>
        </p:nvSpPr>
        <p:spPr>
          <a:xfrm>
            <a:off x="6562192" y="5373014"/>
            <a:ext cx="4669384" cy="0"/>
          </a:xfrm>
          <a:prstGeom prst="line">
            <a:avLst/>
          </a:prstGeom>
          <a:noFill/>
          <a:ln w="9525">
            <a:solidFill>
              <a:srgbClr val="7D8393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42" name="Text 40"/>
          <p:cNvSpPr/>
          <p:nvPr/>
        </p:nvSpPr>
        <p:spPr>
          <a:xfrm>
            <a:off x="6562192" y="5482742"/>
            <a:ext cx="466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250" b="1" noProof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Зручність супроводу  </a:t>
            </a:r>
            <a:r>
              <a:rPr lang="uk-UA" sz="950" i="1" noProof="1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Maintainability</a:t>
            </a:r>
            <a:endParaRPr lang="uk-UA" sz="1250" noProof="1"/>
          </a:p>
        </p:txBody>
      </p:sp>
      <p:sp>
        <p:nvSpPr>
          <p:cNvPr id="43" name="Text 41"/>
          <p:cNvSpPr/>
          <p:nvPr/>
        </p:nvSpPr>
        <p:spPr>
          <a:xfrm>
            <a:off x="6562192" y="5757062"/>
            <a:ext cx="4669384" cy="3236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uk-UA" sz="1050" noProof="1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Architecture, принципи SOLID, незалежність шарів Core/App/Infra</a:t>
            </a:r>
            <a:endParaRPr lang="uk-UA" sz="1050" noProof="1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76B1C8F-FC88-FB42-BFA7-6AB589582A27}"/>
              </a:ext>
            </a:extLst>
          </p:cNvPr>
          <p:cNvSpPr txBox="1"/>
          <p:nvPr/>
        </p:nvSpPr>
        <p:spPr>
          <a:xfrm>
            <a:off x="11750040" y="6564075"/>
            <a:ext cx="384295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uk-UA" sz="1400" b="0" i="0" noProof="1">
                <a:solidFill>
                  <a:srgbClr val="7D8393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-1097280"/>
            <a:ext cx="2743200" cy="2359152"/>
          </a:xfrm>
          <a:prstGeom prst="hexagon">
            <a:avLst/>
          </a:prstGeom>
          <a:ln w="15240">
            <a:solidFill>
              <a:srgbClr val="F0803C">
                <a:alpha val="7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F0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РОЗДІЛ 3 — АРХІТЕКТУРА ТА ПРОЄКТУВАННЯ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Діаграма прецедентів (Use Case)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52144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Ієрархія ролей через успадкування дозволяє уникнути дублювання спільних сценаріїв використання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6949440" cy="4709160"/>
          </a:xfrm>
          <a:prstGeom prst="roundRect">
            <a:avLst>
              <a:gd name="adj" fmla="val 2330"/>
            </a:avLst>
          </a:prstGeom>
          <a:solidFill>
            <a:srgbClr val="171A21"/>
          </a:solidFill>
          <a:ln/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60120" y="1911096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7D83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— USE CASE DIAGRAM</a:t>
            </a:r>
            <a:endParaRPr lang="en-US" sz="1050" dirty="0"/>
          </a:p>
        </p:txBody>
      </p:sp>
      <p:pic>
        <p:nvPicPr>
          <p:cNvPr id="8" name="Image 0" descr="usecase_media/usecase_p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58568"/>
            <a:ext cx="6400800" cy="3246120"/>
          </a:xfrm>
          <a:prstGeom prst="rect">
            <a:avLst/>
          </a:prstGeom>
          <a:ln/>
        </p:spPr>
      </p:pic>
      <p:sp>
        <p:nvSpPr>
          <p:cNvPr id="9" name="Text 6"/>
          <p:cNvSpPr/>
          <p:nvPr/>
        </p:nvSpPr>
        <p:spPr>
          <a:xfrm>
            <a:off x="960120" y="5632704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7D83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Рисунок 3.1 — Діаграма прецедентів веб-платформи (виконано самостійно)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909560" y="1691640"/>
            <a:ext cx="3642055" cy="1953768"/>
          </a:xfrm>
          <a:prstGeom prst="roundRect">
            <a:avLst>
              <a:gd name="adj" fmla="val 6263"/>
            </a:avLst>
          </a:prstGeom>
          <a:solidFill>
            <a:srgbClr val="171A21"/>
          </a:solidFill>
          <a:ln/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8129016" y="1874520"/>
            <a:ext cx="347472" cy="301752"/>
          </a:xfrm>
          <a:prstGeom prst="hexagon">
            <a:avLst/>
          </a:prstGeom>
          <a:ln w="16510">
            <a:solidFill>
              <a:srgbClr val="F08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8129016" y="1874520"/>
            <a:ext cx="3474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586216" y="1819656"/>
            <a:ext cx="17218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Користувач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9951415" y="186537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0803C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9951415" y="186537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базовий актор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8165592" y="2363216"/>
            <a:ext cx="64008" cy="64008"/>
          </a:xfrm>
          <a:prstGeom prst="ellipse">
            <a:avLst/>
          </a:prstGeom>
          <a:solidFill>
            <a:srgbClr val="7D83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8348472" y="2258568"/>
            <a:ext cx="2947111" cy="273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Авторизація через Steam OpenID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165592" y="2636520"/>
            <a:ext cx="64008" cy="64008"/>
          </a:xfrm>
          <a:prstGeom prst="ellipse">
            <a:avLst/>
          </a:prstGeom>
          <a:solidFill>
            <a:srgbClr val="7D83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8348472" y="2531872"/>
            <a:ext cx="2947111" cy="273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Профіль, баланс, Trade URL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165592" y="2909824"/>
            <a:ext cx="64008" cy="64008"/>
          </a:xfrm>
          <a:prstGeom prst="ellipse">
            <a:avLst/>
          </a:prstGeom>
          <a:solidFill>
            <a:srgbClr val="7D83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8348472" y="2805176"/>
            <a:ext cx="2947111" cy="273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Каталог, інвентар, аналітика цін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909560" y="3755137"/>
            <a:ext cx="3642055" cy="1459992"/>
          </a:xfrm>
          <a:prstGeom prst="roundRect">
            <a:avLst>
              <a:gd name="adj" fmla="val 6263"/>
            </a:avLst>
          </a:prstGeom>
          <a:solidFill>
            <a:srgbClr val="171A21"/>
          </a:solidFill>
          <a:ln/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8129016" y="3938017"/>
            <a:ext cx="347472" cy="301752"/>
          </a:xfrm>
          <a:prstGeom prst="hexagon">
            <a:avLst/>
          </a:prstGeom>
          <a:ln w="16510">
            <a:solidFill>
              <a:srgbClr val="5EEA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8129016" y="3938017"/>
            <a:ext cx="3474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586216" y="3883153"/>
            <a:ext cx="17218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Покупець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9951415" y="3928873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5EEAD4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9951415" y="3928873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успадковує Користувача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8165592" y="4426713"/>
            <a:ext cx="64008" cy="64008"/>
          </a:xfrm>
          <a:prstGeom prst="ellipse">
            <a:avLst/>
          </a:prstGeom>
          <a:solidFill>
            <a:srgbClr val="7D83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8348472" y="4322065"/>
            <a:ext cx="2947111" cy="273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Ініціювання купівлі лота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165592" y="4700017"/>
            <a:ext cx="64008" cy="64008"/>
          </a:xfrm>
          <a:prstGeom prst="ellipse">
            <a:avLst/>
          </a:prstGeom>
          <a:solidFill>
            <a:srgbClr val="7D83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8"/>
          <p:cNvSpPr/>
          <p:nvPr/>
        </p:nvSpPr>
        <p:spPr>
          <a:xfrm>
            <a:off x="8348472" y="4595369"/>
            <a:ext cx="2947111" cy="273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Прийняття Steam Trade Offer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165592" y="4973321"/>
            <a:ext cx="64008" cy="64008"/>
          </a:xfrm>
          <a:prstGeom prst="ellipse">
            <a:avLst/>
          </a:prstGeom>
          <a:solidFill>
            <a:srgbClr val="7D83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8348472" y="4868673"/>
            <a:ext cx="2947111" cy="273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Поповнення / виведення коштів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909560" y="5379721"/>
            <a:ext cx="3642055" cy="1459992"/>
          </a:xfrm>
          <a:prstGeom prst="roundRect">
            <a:avLst>
              <a:gd name="adj" fmla="val 6263"/>
            </a:avLst>
          </a:prstGeom>
          <a:solidFill>
            <a:srgbClr val="171A21"/>
          </a:solidFill>
          <a:ln/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32"/>
          <p:cNvSpPr/>
          <p:nvPr/>
        </p:nvSpPr>
        <p:spPr>
          <a:xfrm>
            <a:off x="8129016" y="5507738"/>
            <a:ext cx="347472" cy="301752"/>
          </a:xfrm>
          <a:prstGeom prst="hexagon">
            <a:avLst/>
          </a:prstGeom>
          <a:ln w="16510">
            <a:solidFill>
              <a:srgbClr val="5EEA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8129016" y="5507738"/>
            <a:ext cx="3474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8586216" y="5452874"/>
            <a:ext cx="17218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Продавець</a:t>
            </a:r>
            <a:endParaRPr lang="en-US" sz="1450" dirty="0"/>
          </a:p>
        </p:txBody>
      </p:sp>
      <p:sp>
        <p:nvSpPr>
          <p:cNvPr id="38" name="Shape 35"/>
          <p:cNvSpPr/>
          <p:nvPr/>
        </p:nvSpPr>
        <p:spPr>
          <a:xfrm>
            <a:off x="9951415" y="5498594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5EEAD4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9951415" y="549859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успадковує Користувача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165592" y="5996434"/>
            <a:ext cx="64008" cy="64008"/>
          </a:xfrm>
          <a:prstGeom prst="ellipse">
            <a:avLst/>
          </a:prstGeom>
          <a:solidFill>
            <a:srgbClr val="7D83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8"/>
          <p:cNvSpPr/>
          <p:nvPr/>
        </p:nvSpPr>
        <p:spPr>
          <a:xfrm>
            <a:off x="8348472" y="5891786"/>
            <a:ext cx="2947111" cy="273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Створення лота: предмет і ціна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8165592" y="6269738"/>
            <a:ext cx="64008" cy="64008"/>
          </a:xfrm>
          <a:prstGeom prst="ellipse">
            <a:avLst/>
          </a:prstGeom>
          <a:solidFill>
            <a:srgbClr val="7D83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0"/>
          <p:cNvSpPr/>
          <p:nvPr/>
        </p:nvSpPr>
        <p:spPr>
          <a:xfrm>
            <a:off x="8348472" y="6165090"/>
            <a:ext cx="2947111" cy="273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Формування Trade Offer покупцю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8165592" y="6543042"/>
            <a:ext cx="64008" cy="64008"/>
          </a:xfrm>
          <a:prstGeom prst="ellipse">
            <a:avLst/>
          </a:prstGeom>
          <a:solidFill>
            <a:srgbClr val="7D83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Text 42"/>
          <p:cNvSpPr/>
          <p:nvPr/>
        </p:nvSpPr>
        <p:spPr>
          <a:xfrm>
            <a:off x="8348472" y="6438394"/>
            <a:ext cx="2947111" cy="273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Редагування / зняття лота</a:t>
            </a:r>
            <a:endParaRPr lang="en-US" sz="1100" dirty="0"/>
          </a:p>
        </p:txBody>
      </p:sp>
      <p:sp>
        <p:nvSpPr>
          <p:cNvPr id="46" name="Shape 17"/>
          <p:cNvSpPr/>
          <p:nvPr/>
        </p:nvSpPr>
        <p:spPr>
          <a:xfrm>
            <a:off x="8165592" y="3156712"/>
            <a:ext cx="64008" cy="64008"/>
          </a:xfrm>
          <a:prstGeom prst="ellipse">
            <a:avLst/>
          </a:prstGeom>
          <a:solidFill>
            <a:srgbClr val="7D83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Text 18"/>
          <p:cNvSpPr/>
          <p:nvPr/>
        </p:nvSpPr>
        <p:spPr>
          <a:xfrm>
            <a:off x="8348472" y="3052064"/>
            <a:ext cx="2947111" cy="273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Поповнення / виведення коштів</a:t>
            </a:r>
            <a:endParaRPr lang="en-US" sz="1100" dirty="0"/>
          </a:p>
        </p:txBody>
      </p:sp>
      <p:sp>
        <p:nvSpPr>
          <p:cNvPr id="48" name="Shape 17"/>
          <p:cNvSpPr/>
          <p:nvPr/>
        </p:nvSpPr>
        <p:spPr>
          <a:xfrm>
            <a:off x="8165592" y="3403600"/>
            <a:ext cx="64008" cy="64008"/>
          </a:xfrm>
          <a:prstGeom prst="ellipse">
            <a:avLst/>
          </a:prstGeom>
          <a:solidFill>
            <a:srgbClr val="7D83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18"/>
          <p:cNvSpPr/>
          <p:nvPr/>
        </p:nvSpPr>
        <p:spPr>
          <a:xfrm>
            <a:off x="8348472" y="3298952"/>
            <a:ext cx="2947111" cy="273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BC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Відстеження статусу угоди</a:t>
            </a:r>
            <a:endParaRPr lang="en-US" sz="11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7A9A5E2-7342-B41D-0A5C-993143D1DA50}"/>
              </a:ext>
            </a:extLst>
          </p:cNvPr>
          <p:cNvSpPr txBox="1"/>
          <p:nvPr/>
        </p:nvSpPr>
        <p:spPr>
          <a:xfrm>
            <a:off x="11750040" y="6564075"/>
            <a:ext cx="384295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ru-RU" sz="1400" dirty="0">
                <a:solidFill>
                  <a:srgbClr val="7D8393"/>
                </a:solidFill>
                <a:latin typeface="Arial"/>
              </a:rPr>
              <a:t>7</a:t>
            </a:r>
            <a:endParaRPr sz="1400" b="0" i="0" dirty="0">
              <a:solidFill>
                <a:srgbClr val="7D8393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0803C"/>
                </a:solidFill>
                <a:latin typeface="Arial"/>
              </a:rPr>
              <a:t>РОЗДІЛ 3 — АРХІТЕКТУРА ТА ПРОЄКТУВАННЯ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Архітектура та розгортання системи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3385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B7BCC7"/>
                </a:solidFill>
                <a:latin typeface="Arial"/>
              </a:rPr>
              <a:t>Розподілена клієнт-серверна архітектура з виділеними сервісами замість монолітного застосунку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6903720" cy="4617720"/>
          </a:xfrm>
          <a:prstGeom prst="roundRect">
            <a:avLst>
              <a:gd name="adj" fmla="val 3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8288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7D8393"/>
                </a:solidFill>
                <a:latin typeface="Arial"/>
              </a:rPr>
              <a:t>UML — АРХІТЕКТУРА ТА РОЗГОРТАННЯ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870448"/>
            <a:ext cx="6391656" cy="310896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7D8393"/>
                </a:solidFill>
                <a:latin typeface="Arial"/>
              </a:rPr>
              <a:t>Рисунок 3.5 — Архітектура та розгортання платформи (виконано самостійно)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645920"/>
            <a:ext cx="3794760" cy="653796"/>
          </a:xfrm>
          <a:prstGeom prst="roundRect">
            <a:avLst>
              <a:gd name="adj" fmla="val 8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Hexagon 10"/>
          <p:cNvSpPr/>
          <p:nvPr/>
        </p:nvSpPr>
        <p:spPr>
          <a:xfrm>
            <a:off x="7863840" y="1737360"/>
            <a:ext cx="310896" cy="267370"/>
          </a:xfrm>
          <a:prstGeom prst="hexagon">
            <a:avLst/>
          </a:prstGeom>
          <a:noFill/>
          <a:ln w="19050">
            <a:solidFill>
              <a:srgbClr val="F08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0803C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3608" y="170078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Вебдодаток (SPA)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1952244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B7BCC7"/>
                </a:solidFill>
                <a:latin typeface="Arial"/>
              </a:rPr>
              <a:t>React + TypeScript клієнт: каталог, профіль, управління лотами, візуалізація угод у реальному часі (SignalR)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2391156"/>
            <a:ext cx="3794760" cy="653796"/>
          </a:xfrm>
          <a:prstGeom prst="roundRect">
            <a:avLst>
              <a:gd name="adj" fmla="val 8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Hexagon 14"/>
          <p:cNvSpPr/>
          <p:nvPr/>
        </p:nvSpPr>
        <p:spPr>
          <a:xfrm>
            <a:off x="7863840" y="2482596"/>
            <a:ext cx="310896" cy="267370"/>
          </a:xfrm>
          <a:prstGeom prst="hexagon">
            <a:avLst/>
          </a:prstGeom>
          <a:noFill/>
          <a:ln w="19050">
            <a:solidFill>
              <a:srgbClr val="F08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0803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446020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Браузерне розширення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69748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B7BCC7"/>
                </a:solidFill>
                <a:latin typeface="Arial"/>
              </a:rPr>
              <a:t>Ізольований довірений агент продавця: формує Steam Trade Offer, генерує криптографічний доказ у Web Worker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3136392"/>
            <a:ext cx="3794760" cy="653796"/>
          </a:xfrm>
          <a:prstGeom prst="roundRect">
            <a:avLst>
              <a:gd name="adj" fmla="val 8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Hexagon 18"/>
          <p:cNvSpPr/>
          <p:nvPr/>
        </p:nvSpPr>
        <p:spPr>
          <a:xfrm>
            <a:off x="7863840" y="3227832"/>
            <a:ext cx="310896" cy="267370"/>
          </a:xfrm>
          <a:prstGeom prst="hexagon">
            <a:avLst/>
          </a:prstGeom>
          <a:noFill/>
          <a:ln w="19050">
            <a:solidFill>
              <a:srgbClr val="F08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0803C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3191256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Core API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3442716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B7BCC7"/>
                </a:solidFill>
                <a:latin typeface="Arial"/>
              </a:rPr>
              <a:t>Ядро системи: бізнес-логіка, фінансові операції, синхронізація інвентарю, SignalR push-сповіщення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3881628"/>
            <a:ext cx="3794760" cy="653796"/>
          </a:xfrm>
          <a:prstGeom prst="roundRect">
            <a:avLst>
              <a:gd name="adj" fmla="val 8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Hexagon 22"/>
          <p:cNvSpPr/>
          <p:nvPr/>
        </p:nvSpPr>
        <p:spPr>
          <a:xfrm>
            <a:off x="7863840" y="3973068"/>
            <a:ext cx="310896" cy="267370"/>
          </a:xfrm>
          <a:prstGeom prst="hexagon">
            <a:avLst/>
          </a:prstGeom>
          <a:noFill/>
          <a:ln w="19050">
            <a:solidFill>
              <a:srgbClr val="F08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0803C"/>
                </a:solidFill>
                <a:latin typeface="Arial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3936491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Bot Pool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4187952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B7BCC7"/>
                </a:solidFill>
                <a:latin typeface="Arial"/>
              </a:rPr>
              <a:t>Авторизація та підтримка мережі ботів, генерація session cookies у Redis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79" y="4626864"/>
            <a:ext cx="3794760" cy="653796"/>
          </a:xfrm>
          <a:prstGeom prst="roundRect">
            <a:avLst>
              <a:gd name="adj" fmla="val 8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Hexagon 26"/>
          <p:cNvSpPr/>
          <p:nvPr/>
        </p:nvSpPr>
        <p:spPr>
          <a:xfrm>
            <a:off x="7863840" y="4718304"/>
            <a:ext cx="310896" cy="267370"/>
          </a:xfrm>
          <a:prstGeom prst="hexagon">
            <a:avLst/>
          </a:prstGeom>
          <a:noFill/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5EEAD4"/>
                </a:solidFill>
                <a:latin typeface="Arial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4681728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Steam Gateway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4933188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B7BCC7"/>
                </a:solidFill>
                <a:latin typeface="Arial"/>
              </a:rPr>
              <a:t>Маршрутизація запитів до Steam через пул проксі, обхід лімітів та блокувань за IP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26679" y="5372100"/>
            <a:ext cx="3794760" cy="653796"/>
          </a:xfrm>
          <a:prstGeom prst="roundRect">
            <a:avLst>
              <a:gd name="adj" fmla="val 8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Hexagon 30"/>
          <p:cNvSpPr/>
          <p:nvPr/>
        </p:nvSpPr>
        <p:spPr>
          <a:xfrm>
            <a:off x="7863840" y="5463540"/>
            <a:ext cx="310896" cy="267370"/>
          </a:xfrm>
          <a:prstGeom prst="hexagon">
            <a:avLst/>
          </a:prstGeom>
          <a:noFill/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5EEAD4"/>
                </a:solidFill>
                <a:latin typeface="Arial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542696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Notary 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608" y="5678424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B7BCC7"/>
                </a:solidFill>
                <a:latin typeface="Arial"/>
              </a:rPr>
              <a:t>Довірений проксі для Web Worker розширення + генерація криптографічного доказу</a:t>
            </a: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F31AD16B-391D-80B0-4C35-6E4458F7C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162556"/>
            <a:ext cx="6391656" cy="3263981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00ED0DB-048A-138D-E234-4832359A5ADE}"/>
              </a:ext>
            </a:extLst>
          </p:cNvPr>
          <p:cNvSpPr txBox="1"/>
          <p:nvPr/>
        </p:nvSpPr>
        <p:spPr>
          <a:xfrm>
            <a:off x="11750040" y="6564075"/>
            <a:ext cx="384295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ru-RU" sz="1400" b="0" i="0" dirty="0">
                <a:solidFill>
                  <a:srgbClr val="7D8393"/>
                </a:solidFill>
                <a:latin typeface="Arial"/>
              </a:rPr>
              <a:t>8</a:t>
            </a:r>
            <a:endParaRPr sz="1400" b="0" i="0" dirty="0">
              <a:solidFill>
                <a:srgbClr val="7D8393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1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uk-UA" sz="1100" b="1" i="0" noProof="1">
                <a:solidFill>
                  <a:srgbClr val="F0803C"/>
                </a:solidFill>
                <a:latin typeface="Arial"/>
              </a:rPr>
              <a:t>РОЗДІЛ 3 — АРХІТЕКТУРА ТА ПРОЄКТУВАННЯ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uk-UA" sz="2600" b="1" i="0" noProof="1">
                <a:solidFill>
                  <a:srgbClr val="FFFFFF"/>
                </a:solidFill>
                <a:latin typeface="Arial"/>
              </a:rPr>
              <a:t>Проєктування бази даних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3385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uk-UA" sz="1300" b="0" i="0" noProof="1">
                <a:solidFill>
                  <a:srgbClr val="B7BCC7"/>
                </a:solidFill>
                <a:latin typeface="Arial"/>
              </a:rPr>
              <a:t>PostgreSQL, нормалізація до 3НФ з точковою денормалізацією ключових запитів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7178040" cy="4617720"/>
          </a:xfrm>
          <a:prstGeom prst="roundRect">
            <a:avLst>
              <a:gd name="adj" fmla="val 3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1"/>
          </a:p>
        </p:txBody>
      </p:sp>
      <p:sp>
        <p:nvSpPr>
          <p:cNvPr id="7" name="TextBox 6"/>
          <p:cNvSpPr txBox="1"/>
          <p:nvPr/>
        </p:nvSpPr>
        <p:spPr>
          <a:xfrm>
            <a:off x="896112" y="18288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uk-UA" sz="1100" b="1" i="0" noProof="1">
                <a:solidFill>
                  <a:srgbClr val="7D8393"/>
                </a:solidFill>
                <a:latin typeface="Arial"/>
              </a:rPr>
              <a:t>ER-ДІАГРАМА БАЗИ ДАНИХ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870448"/>
            <a:ext cx="6665976" cy="161583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uk-UA" sz="1050" b="0" i="1" noProof="1">
                <a:solidFill>
                  <a:srgbClr val="7D8393"/>
                </a:solidFill>
                <a:latin typeface="Arial"/>
              </a:rPr>
              <a:t>Рисунок 3.6 — Схема бази даних (виконано самостійно)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645920"/>
            <a:ext cx="3520440" cy="1019556"/>
          </a:xfrm>
          <a:prstGeom prst="roundRect">
            <a:avLst>
              <a:gd name="adj" fmla="val 6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1"/>
          </a:p>
        </p:txBody>
      </p:sp>
      <p:sp>
        <p:nvSpPr>
          <p:cNvPr id="11" name="Rectangle 10"/>
          <p:cNvSpPr/>
          <p:nvPr/>
        </p:nvSpPr>
        <p:spPr>
          <a:xfrm>
            <a:off x="8001000" y="1645920"/>
            <a:ext cx="54864" cy="1019556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1"/>
          </a:p>
        </p:txBody>
      </p:sp>
      <p:sp>
        <p:nvSpPr>
          <p:cNvPr id="12" name="TextBox 11"/>
          <p:cNvSpPr txBox="1"/>
          <p:nvPr/>
        </p:nvSpPr>
        <p:spPr>
          <a:xfrm>
            <a:off x="8275320" y="177393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uk-UA" sz="1350" b="1" i="0" noProof="1">
                <a:solidFill>
                  <a:srgbClr val="FFFFFF"/>
                </a:solidFill>
                <a:latin typeface="Arial"/>
              </a:rPr>
              <a:t>Items / Listings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07568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uk-UA" sz="1030" b="0" i="0" noProof="1">
                <a:solidFill>
                  <a:srgbClr val="B7BCC7"/>
                </a:solidFill>
                <a:latin typeface="Arial"/>
              </a:rPr>
              <a:t>Словник предметів окремо від фізичних лотів на продажу — без дублювання текстових даних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775204"/>
            <a:ext cx="3520440" cy="1019556"/>
          </a:xfrm>
          <a:prstGeom prst="roundRect">
            <a:avLst>
              <a:gd name="adj" fmla="val 6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1"/>
          </a:p>
        </p:txBody>
      </p:sp>
      <p:sp>
        <p:nvSpPr>
          <p:cNvPr id="15" name="Rectangle 14"/>
          <p:cNvSpPr/>
          <p:nvPr/>
        </p:nvSpPr>
        <p:spPr>
          <a:xfrm>
            <a:off x="8001000" y="2775204"/>
            <a:ext cx="54864" cy="1019556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1"/>
          </a:p>
        </p:txBody>
      </p:sp>
      <p:sp>
        <p:nvSpPr>
          <p:cNvPr id="16" name="TextBox 15"/>
          <p:cNvSpPr txBox="1"/>
          <p:nvPr/>
        </p:nvSpPr>
        <p:spPr>
          <a:xfrm>
            <a:off x="8275320" y="29032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uk-UA" sz="1350" b="1" i="0" noProof="1">
                <a:solidFill>
                  <a:srgbClr val="FFFFFF"/>
                </a:solidFill>
                <a:latin typeface="Arial"/>
              </a:rPr>
              <a:t>Users / Transactions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2049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uk-UA" sz="1030" b="0" i="0" noProof="1">
                <a:solidFill>
                  <a:srgbClr val="B7BCC7"/>
                </a:solidFill>
                <a:latin typeface="Arial"/>
              </a:rPr>
              <a:t>Баланс користувача + універсальна таблиця всіх фінансових рухів для повного аудиту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3904488"/>
            <a:ext cx="3520440" cy="1019556"/>
          </a:xfrm>
          <a:prstGeom prst="roundRect">
            <a:avLst>
              <a:gd name="adj" fmla="val 6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1"/>
          </a:p>
        </p:txBody>
      </p:sp>
      <p:sp>
        <p:nvSpPr>
          <p:cNvPr id="19" name="Rectangle 18"/>
          <p:cNvSpPr/>
          <p:nvPr/>
        </p:nvSpPr>
        <p:spPr>
          <a:xfrm>
            <a:off x="8001000" y="3904488"/>
            <a:ext cx="54864" cy="1019556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1"/>
          </a:p>
        </p:txBody>
      </p:sp>
      <p:sp>
        <p:nvSpPr>
          <p:cNvPr id="20" name="TextBox 19"/>
          <p:cNvSpPr txBox="1"/>
          <p:nvPr/>
        </p:nvSpPr>
        <p:spPr>
          <a:xfrm>
            <a:off x="8275320" y="40325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uk-UA" sz="1350" b="1" i="0" noProof="1">
                <a:solidFill>
                  <a:srgbClr val="FFFFFF"/>
                </a:solidFill>
                <a:latin typeface="Arial"/>
              </a:rPr>
              <a:t>Orders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33425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uk-UA" sz="1030" b="0" i="0" noProof="1">
                <a:solidFill>
                  <a:srgbClr val="B7BCC7"/>
                </a:solidFill>
                <a:latin typeface="Arial"/>
              </a:rPr>
              <a:t>Центральний вузол БД. Денормалізація: пряме посилання на продавця. Часові мітки для Hangfire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5033772"/>
            <a:ext cx="3520440" cy="1019556"/>
          </a:xfrm>
          <a:prstGeom prst="roundRect">
            <a:avLst>
              <a:gd name="adj" fmla="val 6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1"/>
          </a:p>
        </p:txBody>
      </p:sp>
      <p:sp>
        <p:nvSpPr>
          <p:cNvPr id="23" name="Rectangle 22"/>
          <p:cNvSpPr/>
          <p:nvPr/>
        </p:nvSpPr>
        <p:spPr>
          <a:xfrm>
            <a:off x="8001000" y="5033772"/>
            <a:ext cx="54864" cy="1019556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1"/>
          </a:p>
        </p:txBody>
      </p:sp>
      <p:sp>
        <p:nvSpPr>
          <p:cNvPr id="24" name="TextBox 23"/>
          <p:cNvSpPr txBox="1"/>
          <p:nvPr/>
        </p:nvSpPr>
        <p:spPr>
          <a:xfrm>
            <a:off x="8275320" y="51617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uk-UA" sz="1350" b="1" i="0" noProof="1">
                <a:solidFill>
                  <a:srgbClr val="FFFFFF"/>
                </a:solidFill>
                <a:latin typeface="Arial"/>
              </a:rPr>
              <a:t>SteamTrades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54635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uk-UA" sz="1030" b="0" i="0" noProof="1">
                <a:solidFill>
                  <a:srgbClr val="B7BCC7"/>
                </a:solidFill>
                <a:latin typeface="Arial"/>
              </a:rPr>
              <a:t>Ізоляція нестабільного зовнішнього Steam API — декілька спроб трейду не ламають логіку замовлення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FB44D868-F87E-3502-FA53-D92DEC4F3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831" y="2075688"/>
            <a:ext cx="5203969" cy="374601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E623BD6-E7EA-36FC-148E-2C3FFA661FBE}"/>
              </a:ext>
            </a:extLst>
          </p:cNvPr>
          <p:cNvSpPr txBox="1"/>
          <p:nvPr/>
        </p:nvSpPr>
        <p:spPr>
          <a:xfrm>
            <a:off x="11750040" y="6564075"/>
            <a:ext cx="384295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uk-UA" sz="1400" b="0" i="0" noProof="1">
                <a:solidFill>
                  <a:srgbClr val="7D8393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0803C"/>
                </a:solidFill>
                <a:latin typeface="Arial"/>
              </a:rPr>
              <a:t>РОЗДІЛ 4 — ОПИС ПРИЙНЯТИХ ПРОГРАМНИХ РІШЕНЬ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Ключове рішення 1 — Steam 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33856"/>
            <a:ext cx="108813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B7BCC7"/>
                </a:solidFill>
                <a:latin typeface="Arial"/>
              </a:rPr>
              <a:t>Обхід жорстких лімітів Steam API через пул автоматизованих ботів та ротацію проксі-серверів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060259"/>
            <a:ext cx="3456432" cy="1481328"/>
          </a:xfrm>
          <a:prstGeom prst="roundRect">
            <a:avLst>
              <a:gd name="adj" fmla="val 5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5060259"/>
            <a:ext cx="3456432" cy="54864"/>
          </a:xfrm>
          <a:prstGeom prst="rect">
            <a:avLst/>
          </a:prstGeom>
          <a:solidFill>
            <a:srgbClr val="F08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5224851"/>
            <a:ext cx="312724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Проблема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5535747"/>
            <a:ext cx="3127248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B7BCC7"/>
                </a:solidFill>
                <a:latin typeface="Arial"/>
              </a:rPr>
              <a:t>Жорсткі ліміти запитів Steam API та тіньові блокування IP-адрес при масовому завантаженні інвентарів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5060259"/>
            <a:ext cx="3456432" cy="1481328"/>
          </a:xfrm>
          <a:prstGeom prst="roundRect">
            <a:avLst>
              <a:gd name="adj" fmla="val 5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24528" y="5060259"/>
            <a:ext cx="3456432" cy="54864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25696" y="5224851"/>
            <a:ext cx="312724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Механізм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5535747"/>
            <a:ext cx="3127248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B7BCC7"/>
                </a:solidFill>
                <a:latin typeface="Arial"/>
              </a:rPr>
              <a:t>Redis централізовано зберігає сесійні cookie ботів (sessionid, steamLoginSecure), Gateway динамічно їх витягує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08975" y="5060259"/>
            <a:ext cx="3456432" cy="1481328"/>
          </a:xfrm>
          <a:prstGeom prst="roundRect">
            <a:avLst>
              <a:gd name="adj" fmla="val 5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08975" y="5060259"/>
            <a:ext cx="3456432" cy="54864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10144" y="5224851"/>
            <a:ext cx="312724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Відмовостійкість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5535747"/>
            <a:ext cx="3127248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B7BCC7"/>
                </a:solidFill>
                <a:latin typeface="Arial"/>
              </a:rPr>
              <a:t>Polly Retry + Timeout Policy та карантин проблемних проксі через ProxyPenaltyHandler на N хвилин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1627632"/>
            <a:ext cx="4023360" cy="329184"/>
          </a:xfrm>
          <a:prstGeom prst="roundRect">
            <a:avLst>
              <a:gd name="adj" fmla="val 3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0080" y="1627631"/>
            <a:ext cx="6720840" cy="3322899"/>
          </a:xfrm>
          <a:prstGeom prst="roundRect">
            <a:avLst>
              <a:gd name="adj" fmla="val 25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1773936"/>
            <a:ext cx="6263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7D8393"/>
                </a:solidFill>
                <a:latin typeface="Arial"/>
              </a:rPr>
              <a:t>ВЗАЄМОДІЯ BOT POOL, REDIS ТА GATEWAY</a:t>
            </a:r>
          </a:p>
        </p:txBody>
      </p:sp>
      <p:pic>
        <p:nvPicPr>
          <p:cNvPr id="29" name="Picture 28" descr="gateway_fina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934" y="2048256"/>
            <a:ext cx="5445695" cy="2816431"/>
          </a:xfrm>
          <a:prstGeom prst="rect">
            <a:avLst/>
          </a:prstGeom>
          <a:ln>
            <a:noFill/>
          </a:ln>
        </p:spPr>
      </p:pic>
      <p:sp>
        <p:nvSpPr>
          <p:cNvPr id="30" name="Rounded Rectangle 29"/>
          <p:cNvSpPr/>
          <p:nvPr/>
        </p:nvSpPr>
        <p:spPr>
          <a:xfrm>
            <a:off x="7498079" y="1627631"/>
            <a:ext cx="4023360" cy="3291841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 w="12700">
            <a:solidFill>
              <a:srgbClr val="2A2E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498079" y="1627632"/>
            <a:ext cx="4023360" cy="310896"/>
          </a:xfrm>
          <a:prstGeom prst="roundRect">
            <a:avLst>
              <a:gd name="adj" fmla="val 2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35240" y="16824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5EEAD4"/>
                </a:solidFill>
                <a:latin typeface="Consolas"/>
              </a:rPr>
              <a:t>SteamInventoryClient.cs</a:t>
            </a:r>
          </a:p>
        </p:txBody>
      </p:sp>
      <p:pic>
        <p:nvPicPr>
          <p:cNvPr id="33" name="Picture 32" descr="Cod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7754" y="1993392"/>
            <a:ext cx="3499048" cy="2750454"/>
          </a:xfrm>
          <a:prstGeom prst="rect">
            <a:avLst/>
          </a:prstGeom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D975EE-3551-B0F4-D72A-27B158BFA814}"/>
              </a:ext>
            </a:extLst>
          </p:cNvPr>
          <p:cNvSpPr txBox="1"/>
          <p:nvPr/>
        </p:nvSpPr>
        <p:spPr>
          <a:xfrm>
            <a:off x="11750040" y="6564075"/>
            <a:ext cx="384295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dirty="0">
                <a:solidFill>
                  <a:srgbClr val="7D8393"/>
                </a:solidFill>
                <a:latin typeface="Arial"/>
              </a:rPr>
              <a:t>1</a:t>
            </a:r>
            <a:r>
              <a:rPr lang="ru-RU" sz="1400" b="0" i="0" dirty="0">
                <a:solidFill>
                  <a:srgbClr val="7D8393"/>
                </a:solidFill>
                <a:latin typeface="Arial"/>
              </a:rPr>
              <a:t>0</a:t>
            </a:r>
            <a:endParaRPr sz="1400" b="0" i="0" dirty="0">
              <a:solidFill>
                <a:srgbClr val="7D8393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0803C"/>
                </a:solidFill>
                <a:latin typeface="Arial"/>
              </a:rPr>
              <a:t>РОЗДІЛ 4 — ОПИС ПРИЙНЯТИХ ПРОГРАМНИХ РІШЕНЬ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Ключове рішення 2 — комунікація з розширенням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33856"/>
            <a:ext cx="108813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B7BCC7"/>
                </a:solidFill>
                <a:latin typeface="Arial"/>
              </a:rPr>
              <a:t>Ізольований «довірений агент» на клієнті: вебдодаток делегує команди, розширення виконує HTTP-запити до Steam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645920"/>
            <a:ext cx="4297680" cy="1353312"/>
          </a:xfrm>
          <a:prstGeom prst="roundRect">
            <a:avLst>
              <a:gd name="adj" fmla="val 5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223760" y="1645920"/>
            <a:ext cx="54864" cy="1353312"/>
          </a:xfrm>
          <a:prstGeom prst="rect">
            <a:avLst/>
          </a:prstGeom>
          <a:solidFill>
            <a:srgbClr val="F08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79792" y="1792224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Промісифікація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792" y="2103120"/>
            <a:ext cx="39319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B7BCC7"/>
                </a:solidFill>
                <a:latin typeface="Arial"/>
              </a:rPr>
              <a:t>chrome.runtime callback обгортається у Promise — дозволяє лаконічний async/await на боці React-додатка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3127248"/>
            <a:ext cx="4297680" cy="1353312"/>
          </a:xfrm>
          <a:prstGeom prst="roundRect">
            <a:avLst>
              <a:gd name="adj" fmla="val 5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23760" y="3127248"/>
            <a:ext cx="54864" cy="1353312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79792" y="327355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Ідентифікація та маршрутизація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3584448"/>
            <a:ext cx="39319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B7BCC7"/>
                </a:solidFill>
                <a:latin typeface="Arial"/>
              </a:rPr>
              <a:t>Повідомлення надсилається за унікальним ID розширення з типізованим об'єктом request (наприклад, CREATE_TRADE_OFFER)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4608576"/>
            <a:ext cx="4297680" cy="1353312"/>
          </a:xfrm>
          <a:prstGeom prst="roundRect">
            <a:avLst>
              <a:gd name="adj" fmla="val 5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23760" y="4608576"/>
            <a:ext cx="54864" cy="1353312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79792" y="475488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Дворівнева обробка помилок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5065776"/>
            <a:ext cx="39319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B7BCC7"/>
                </a:solidFill>
                <a:latin typeface="Arial"/>
              </a:rPr>
              <a:t>Спочатку runtime.lastError (системні помилки браузера), потім бізнес-логіка відповіді розширення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6053328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D8393"/>
                </a:solidFill>
                <a:latin typeface="Arial"/>
              </a:rPr>
              <a:t>Конфіденційні сесійні дані ніколи не покидають межі браузера користувача</a:t>
            </a:r>
          </a:p>
        </p:txBody>
      </p:sp>
      <p:pic>
        <p:nvPicPr>
          <p:cNvPr id="24" name="Picture 23" descr="Co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556" y="1645920"/>
            <a:ext cx="5516127" cy="4617720"/>
          </a:xfrm>
          <a:prstGeom prst="rect">
            <a:avLst/>
          </a:prstGeom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575E90-9597-5BDB-5747-51B64B9F8121}"/>
              </a:ext>
            </a:extLst>
          </p:cNvPr>
          <p:cNvSpPr txBox="1"/>
          <p:nvPr/>
        </p:nvSpPr>
        <p:spPr>
          <a:xfrm>
            <a:off x="11750040" y="6564075"/>
            <a:ext cx="384295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dirty="0">
                <a:solidFill>
                  <a:srgbClr val="7D8393"/>
                </a:solidFill>
                <a:latin typeface="Arial"/>
              </a:rPr>
              <a:t>1</a:t>
            </a:r>
            <a:r>
              <a:rPr lang="ru-RU" sz="1400" b="0" i="0" dirty="0">
                <a:solidFill>
                  <a:srgbClr val="7D8393"/>
                </a:solidFill>
                <a:latin typeface="Arial"/>
              </a:rPr>
              <a:t>1</a:t>
            </a:r>
            <a:endParaRPr sz="1400" b="0" i="0" dirty="0">
              <a:solidFill>
                <a:srgbClr val="7D8393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0803C"/>
                </a:solidFill>
                <a:latin typeface="Arial"/>
              </a:rPr>
              <a:t>РОЗДІЛ 4 — ОПИС ПРИЙНЯТИХ ПРОГРАМНИХ РІШЕНЬ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Ключове рішення 3 — TLS Notary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3385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B7BCC7"/>
                </a:solidFill>
                <a:latin typeface="Arial"/>
              </a:rPr>
              <a:t>Архітектура «нульової довіри»: математичний доказ достовірності статусу угоди без розкриття сесійних токенів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074920" cy="4617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tls_not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38505"/>
            <a:ext cx="5074920" cy="3135268"/>
          </a:xfrm>
          <a:prstGeom prst="rect">
            <a:avLst/>
          </a:prstGeom>
          <a:ln/>
        </p:spPr>
      </p:pic>
      <p:sp>
        <p:nvSpPr>
          <p:cNvPr id="9" name="Rounded Rectangle 8"/>
          <p:cNvSpPr/>
          <p:nvPr/>
        </p:nvSpPr>
        <p:spPr>
          <a:xfrm>
            <a:off x="5989320" y="1645920"/>
            <a:ext cx="5532120" cy="1042415"/>
          </a:xfrm>
          <a:prstGeom prst="roundRect">
            <a:avLst>
              <a:gd name="adj" fmla="val 6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xagon 9"/>
          <p:cNvSpPr/>
          <p:nvPr/>
        </p:nvSpPr>
        <p:spPr>
          <a:xfrm>
            <a:off x="6172200" y="1773936"/>
            <a:ext cx="365760" cy="314553"/>
          </a:xfrm>
          <a:prstGeom prst="hexagon">
            <a:avLst/>
          </a:prstGeom>
          <a:noFill/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5EEAD4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73736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MPC-рукостискання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29968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B7BCC7"/>
                </a:solidFill>
                <a:latin typeface="Arial"/>
              </a:rPr>
              <a:t>WebSocket-з'єднання Prover з Notary Service. Спільна генерація ключів — жодна сторона не володіє повним ключем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2779776"/>
            <a:ext cx="5532120" cy="1042415"/>
          </a:xfrm>
          <a:prstGeom prst="roundRect">
            <a:avLst>
              <a:gd name="adj" fmla="val 6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Hexagon 13"/>
          <p:cNvSpPr/>
          <p:nvPr/>
        </p:nvSpPr>
        <p:spPr>
          <a:xfrm>
            <a:off x="6172200" y="2907792"/>
            <a:ext cx="365760" cy="314553"/>
          </a:xfrm>
          <a:prstGeom prst="hexagon">
            <a:avLst/>
          </a:prstGeom>
          <a:noFill/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5EEAD4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871216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Запит до Steam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163824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B7BCC7"/>
                </a:solidFill>
                <a:latin typeface="Arial"/>
              </a:rPr>
              <a:t>Розширення відправляє HTTP-запит на сервери Steam через проксі нотаріуса. Notary «наосліп» підписує трафік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3913632"/>
            <a:ext cx="5532120" cy="1042415"/>
          </a:xfrm>
          <a:prstGeom prst="roundRect">
            <a:avLst>
              <a:gd name="adj" fmla="val 6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Hexagon 17"/>
          <p:cNvSpPr/>
          <p:nvPr/>
        </p:nvSpPr>
        <p:spPr>
          <a:xfrm>
            <a:off x="6172200" y="4041648"/>
            <a:ext cx="365760" cy="314553"/>
          </a:xfrm>
          <a:prstGeom prst="hexagon">
            <a:avLst/>
          </a:prstGeom>
          <a:noFill/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5EEAD4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00507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Приховування секретів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29768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B7BCC7"/>
                </a:solidFill>
                <a:latin typeface="Arial"/>
              </a:rPr>
              <a:t>subtractRanges() вирізає з підписаного транскрипту sessionid і steamLoginSecure, залишає відкритим лише статус трейду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5047488"/>
            <a:ext cx="5532120" cy="1042415"/>
          </a:xfrm>
          <a:prstGeom prst="roundRect">
            <a:avLst>
              <a:gd name="adj" fmla="val 6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Hexagon 21"/>
          <p:cNvSpPr/>
          <p:nvPr/>
        </p:nvSpPr>
        <p:spPr>
          <a:xfrm>
            <a:off x="6172200" y="5175504"/>
            <a:ext cx="365760" cy="314553"/>
          </a:xfrm>
          <a:prstGeom prst="hexagon">
            <a:avLst/>
          </a:prstGeom>
          <a:noFill/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5EEAD4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13892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Верифікація доказу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431536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B7BCC7"/>
                </a:solidFill>
                <a:latin typeface="Arial"/>
              </a:rPr>
              <a:t>Backend отримує redacted signed data і математично перевіряє автентичність відповіді Steam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02920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333333"/>
                </a:solidFill>
                <a:latin typeface="Arial"/>
              </a:rPr>
              <a:t>Ролі протоколу у SkinHex:</a:t>
            </a:r>
          </a:p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333333"/>
                </a:solidFill>
                <a:latin typeface="Arial"/>
              </a:rPr>
              <a:t>Server — сервери Steam, джерело даних про угоду</a:t>
            </a:r>
          </a:p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333333"/>
                </a:solidFill>
                <a:latin typeface="Arial"/>
              </a:rPr>
              <a:t>Prover — браузерне розширення (Web Worker користувача)</a:t>
            </a:r>
          </a:p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333333"/>
                </a:solidFill>
                <a:latin typeface="Arial"/>
              </a:rPr>
              <a:t>Notary — Notary Service платформи SkinHex</a:t>
            </a:r>
          </a:p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333333"/>
                </a:solidFill>
                <a:latin typeface="Arial"/>
              </a:rPr>
              <a:t>Verifier — Core API Server, який приймає фінальний доказ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02E82E-8B2C-FE4D-11E6-2785BA64FFF7}"/>
              </a:ext>
            </a:extLst>
          </p:cNvPr>
          <p:cNvSpPr txBox="1"/>
          <p:nvPr/>
        </p:nvSpPr>
        <p:spPr>
          <a:xfrm>
            <a:off x="11750040" y="6564075"/>
            <a:ext cx="384295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dirty="0">
                <a:solidFill>
                  <a:srgbClr val="7D8393"/>
                </a:solidFill>
                <a:latin typeface="Arial"/>
              </a:rPr>
              <a:t>1</a:t>
            </a:r>
            <a:r>
              <a:rPr lang="ru-RU" sz="1400" b="0" i="0" dirty="0">
                <a:solidFill>
                  <a:srgbClr val="7D8393"/>
                </a:solidFill>
                <a:latin typeface="Arial"/>
              </a:rPr>
              <a:t>2</a:t>
            </a:r>
            <a:endParaRPr sz="1400" b="0" i="0" dirty="0">
              <a:solidFill>
                <a:srgbClr val="7D8393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1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uk-UA" sz="1100" b="1" i="0" noProof="1">
                <a:solidFill>
                  <a:srgbClr val="F0803C"/>
                </a:solidFill>
                <a:latin typeface="Arial"/>
              </a:rPr>
              <a:t>РОЗДІЛ 4 — ОПИС ПРИЙНЯТИХ ПРОГРАМНИХ РІШЕНЬ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uk-UA" sz="2600" b="1" i="0" noProof="1">
                <a:solidFill>
                  <a:srgbClr val="FFFFFF"/>
                </a:solidFill>
                <a:latin typeface="Arial"/>
              </a:rPr>
              <a:t>UI/UX — візуалізація життєвого циклу угоди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3385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uk-UA" sz="1300" b="0" i="0" noProof="1">
                <a:solidFill>
                  <a:srgbClr val="B7BCC7"/>
                </a:solidFill>
                <a:latin typeface="Arial"/>
              </a:rPr>
              <a:t>Компонент OrderCard.tsx подає багатоетапний P2P-обмін як зрозумілу «дорожню карту»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474720" cy="4160520"/>
          </a:xfrm>
          <a:prstGeom prst="roundRect">
            <a:avLst>
              <a:gd name="adj" fmla="val 5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1"/>
          </a:p>
        </p:txBody>
      </p:sp>
      <p:sp>
        <p:nvSpPr>
          <p:cNvPr id="7" name="TextBox 6"/>
          <p:cNvSpPr txBox="1"/>
          <p:nvPr/>
        </p:nvSpPr>
        <p:spPr>
          <a:xfrm>
            <a:off x="822959" y="1856231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uk-UA" sz="1350" b="1" i="0" noProof="1">
                <a:solidFill>
                  <a:srgbClr val="FFFFFF"/>
                </a:solidFill>
                <a:latin typeface="Arial"/>
              </a:rPr>
              <a:t>Активна угода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691640"/>
            <a:ext cx="3474720" cy="4160520"/>
          </a:xfrm>
          <a:prstGeom prst="roundRect">
            <a:avLst>
              <a:gd name="adj" fmla="val 5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1"/>
          </a:p>
        </p:txBody>
      </p:sp>
      <p:sp>
        <p:nvSpPr>
          <p:cNvPr id="12" name="TextBox 11"/>
          <p:cNvSpPr txBox="1"/>
          <p:nvPr/>
        </p:nvSpPr>
        <p:spPr>
          <a:xfrm>
            <a:off x="4434840" y="1856231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uk-UA" sz="1350" b="1" i="0" noProof="1">
                <a:solidFill>
                  <a:srgbClr val="FFFFFF"/>
                </a:solidFill>
                <a:latin typeface="Arial"/>
              </a:rPr>
              <a:t>Успішне завершення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691640"/>
            <a:ext cx="3474720" cy="4160520"/>
          </a:xfrm>
          <a:prstGeom prst="roundRect">
            <a:avLst>
              <a:gd name="adj" fmla="val 5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1"/>
          </a:p>
        </p:txBody>
      </p:sp>
      <p:sp>
        <p:nvSpPr>
          <p:cNvPr id="17" name="TextBox 16"/>
          <p:cNvSpPr txBox="1"/>
          <p:nvPr/>
        </p:nvSpPr>
        <p:spPr>
          <a:xfrm>
            <a:off x="8046720" y="1856231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uk-UA" sz="1350" b="1" i="0" noProof="1">
                <a:solidFill>
                  <a:srgbClr val="FFFFFF"/>
                </a:solidFill>
                <a:latin typeface="Arial"/>
              </a:rPr>
              <a:t>Скасована угода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98932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1"/>
          </a:p>
        </p:txBody>
      </p:sp>
      <p:sp>
        <p:nvSpPr>
          <p:cNvPr id="22" name="TextBox 21"/>
          <p:cNvSpPr txBox="1"/>
          <p:nvPr/>
        </p:nvSpPr>
        <p:spPr>
          <a:xfrm>
            <a:off x="868680" y="61081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uk-UA" sz="1150" b="0" i="1" noProof="1">
                <a:solidFill>
                  <a:srgbClr val="B7BCC7"/>
                </a:solidFill>
                <a:latin typeface="Arial"/>
              </a:rPr>
              <a:t>Контекстна панель дій адаптується під роль користувача та поточний крок — мінімізує звернення до підтримки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59" y="2212848"/>
            <a:ext cx="3108960" cy="1965960"/>
          </a:xfrm>
          <a:prstGeom prst="roundRect">
            <a:avLst>
              <a:gd name="adj" fmla="val 5000"/>
            </a:avLst>
          </a:prstGeom>
          <a:solidFill>
            <a:srgbClr val="0B0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1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669920"/>
            <a:ext cx="3007258" cy="1125566"/>
          </a:xfrm>
          <a:prstGeom prst="rect">
            <a:avLst/>
          </a:prstGeom>
          <a:ln/>
        </p:spPr>
      </p:pic>
      <p:sp>
        <p:nvSpPr>
          <p:cNvPr id="26" name="TextBox 25"/>
          <p:cNvSpPr txBox="1"/>
          <p:nvPr/>
        </p:nvSpPr>
        <p:spPr>
          <a:xfrm>
            <a:off x="822959" y="434340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uk-UA" sz="1050" b="0" i="0" noProof="1">
                <a:solidFill>
                  <a:srgbClr val="B7BCC7"/>
                </a:solidFill>
                <a:latin typeface="Arial"/>
              </a:rPr>
              <a:t>Динамічний таймер зі зміною кольору при наближенні дедлайну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2212848"/>
            <a:ext cx="3108960" cy="1965960"/>
          </a:xfrm>
          <a:prstGeom prst="roundRect">
            <a:avLst>
              <a:gd name="adj" fmla="val 5000"/>
            </a:avLst>
          </a:prstGeom>
          <a:solidFill>
            <a:srgbClr val="0B0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1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782" y="2764748"/>
            <a:ext cx="3023742" cy="929429"/>
          </a:xfrm>
          <a:prstGeom prst="rect">
            <a:avLst/>
          </a:prstGeom>
          <a:ln/>
        </p:spPr>
      </p:pic>
      <p:sp>
        <p:nvSpPr>
          <p:cNvPr id="29" name="TextBox 28"/>
          <p:cNvSpPr txBox="1"/>
          <p:nvPr/>
        </p:nvSpPr>
        <p:spPr>
          <a:xfrm>
            <a:off x="4434840" y="434340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uk-UA" sz="1050" b="0" i="0" noProof="1">
                <a:solidFill>
                  <a:srgbClr val="B7BCC7"/>
                </a:solidFill>
                <a:latin typeface="Arial"/>
              </a:rPr>
              <a:t>Дорожня карта повністю заповнена, статуси підсвічені зеленим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2212848"/>
            <a:ext cx="3108960" cy="1965960"/>
          </a:xfrm>
          <a:prstGeom prst="roundRect">
            <a:avLst>
              <a:gd name="adj" fmla="val 5000"/>
            </a:avLst>
          </a:prstGeom>
          <a:solidFill>
            <a:srgbClr val="0B0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1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107" y="2793776"/>
            <a:ext cx="3023742" cy="833197"/>
          </a:xfrm>
          <a:prstGeom prst="rect">
            <a:avLst/>
          </a:prstGeom>
          <a:ln/>
        </p:spPr>
      </p:pic>
      <p:sp>
        <p:nvSpPr>
          <p:cNvPr id="32" name="TextBox 31"/>
          <p:cNvSpPr txBox="1"/>
          <p:nvPr/>
        </p:nvSpPr>
        <p:spPr>
          <a:xfrm>
            <a:off x="8046720" y="434340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uk-UA" sz="1050" b="0" i="0" noProof="1">
                <a:solidFill>
                  <a:srgbClr val="B7BCC7"/>
                </a:solidFill>
                <a:latin typeface="Arial"/>
              </a:rPr>
              <a:t>Індикатор зупиняється на етапі зриву з точною причиною скасування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003B91-4900-E2E6-812F-46AFD982F456}"/>
              </a:ext>
            </a:extLst>
          </p:cNvPr>
          <p:cNvSpPr txBox="1"/>
          <p:nvPr/>
        </p:nvSpPr>
        <p:spPr>
          <a:xfrm>
            <a:off x="11750040" y="6564075"/>
            <a:ext cx="384295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uk-UA" sz="1400" b="0" i="0" noProof="1">
                <a:solidFill>
                  <a:srgbClr val="7D8393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0803C"/>
                </a:solidFill>
                <a:latin typeface="Arial"/>
              </a:rPr>
              <a:t>РОЗДІЛ 5 — ТЕСТУВАННЯ РОЗРОБЛЕНОГО ПРОГРАМНОГО ЗАБЕЗПЕЧЕННЯ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Тестування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3385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B7BCC7"/>
                </a:solidFill>
                <a:latin typeface="Arial"/>
              </a:rPr>
              <a:t>Автоматизоване модульне тестування ключових компонентів бізнес-логіки маркетплейсу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1627632"/>
            <a:ext cx="5623560" cy="2331720"/>
          </a:xfrm>
          <a:prstGeom prst="roundRect">
            <a:avLst>
              <a:gd name="adj" fmla="val 3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1783080"/>
            <a:ext cx="5166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D8393"/>
                </a:solidFill>
                <a:latin typeface="Arial"/>
              </a:rPr>
              <a:t>TEST EXPLORER — РЕЗУЛЬТАТИ ЗАПУСКУ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2103120"/>
            <a:ext cx="5166360" cy="1737360"/>
          </a:xfrm>
          <a:prstGeom prst="roundRect">
            <a:avLst>
              <a:gd name="adj" fmla="val 3000"/>
            </a:avLst>
          </a:prstGeom>
          <a:solidFill>
            <a:srgbClr val="0B0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0080" y="4096512"/>
            <a:ext cx="5623560" cy="2148840"/>
          </a:xfrm>
          <a:prstGeom prst="roundRect">
            <a:avLst>
              <a:gd name="adj" fmla="val 3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4261104"/>
            <a:ext cx="5166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0803C"/>
                </a:solidFill>
                <a:latin typeface="Arial"/>
              </a:rPr>
              <a:t>СТЕК ТЕСТУВАННЯ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590288"/>
            <a:ext cx="5166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xUnit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823459"/>
            <a:ext cx="5166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B7BCC7"/>
                </a:solidFill>
                <a:latin typeface="Arial"/>
              </a:rPr>
              <a:t>фреймворк для написання та автоматичного запуску тестових сценаріїв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992624"/>
            <a:ext cx="5166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Moq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225796"/>
            <a:ext cx="5166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B7BCC7"/>
                </a:solidFill>
                <a:latin typeface="Arial"/>
              </a:rPr>
              <a:t>фіктивні об'єкти замість реальних залежностей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394960"/>
            <a:ext cx="5166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FluentAssertions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628132"/>
            <a:ext cx="5166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B7BCC7"/>
                </a:solidFill>
                <a:latin typeface="Arial"/>
              </a:rPr>
              <a:t>семантично зрозумілі перевірки у стилі Fluent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797296"/>
            <a:ext cx="5166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EF Core InMemory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6030468"/>
            <a:ext cx="5166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B7BCC7"/>
                </a:solidFill>
                <a:latin typeface="Arial"/>
              </a:rPr>
              <a:t>тестування логіки роботи з даними без розгортання PostgreSQL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37960" y="1627632"/>
            <a:ext cx="4983480" cy="1353312"/>
          </a:xfrm>
          <a:prstGeom prst="roundRect">
            <a:avLst>
              <a:gd name="adj" fmla="val 5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537960" y="1627632"/>
            <a:ext cx="54864" cy="1353312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84848" y="1755648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OrderService — життєвий цикл угод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177393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EEAD4"/>
                </a:solidFill>
                <a:latin typeface="Arial"/>
              </a:rPr>
              <a:t>25 тестів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84848" y="2048256"/>
            <a:ext cx="4617720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B7BCC7"/>
                </a:solidFill>
                <a:latin typeface="Arial"/>
              </a:rPr>
              <a:t>Статуси угод і блокування балансів, контроль таймаутів Hangfire, захист від станів гонки при одночасному скасуванні, визначення винної сторони та застосування штрафів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37960" y="3108960"/>
            <a:ext cx="4983480" cy="1353312"/>
          </a:xfrm>
          <a:prstGeom prst="roundRect">
            <a:avLst>
              <a:gd name="adj" fmla="val 5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537960" y="3108960"/>
            <a:ext cx="54864" cy="1353312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84848" y="323697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Фінансові інтеграції NowPayments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3255264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EEAD4"/>
                </a:solidFill>
                <a:latin typeface="Arial"/>
              </a:rPr>
              <a:t>9 + 15 + 8 тестів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84848" y="3529584"/>
            <a:ext cx="4617720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B7BCC7"/>
                </a:solidFill>
                <a:latin typeface="Arial"/>
              </a:rPr>
              <a:t>HMAC-SHA512 підпис вхідних IPN, ідемпотентність депозитів, мінімальна сума та розрахунок інвойсу, списання балансу при виведенні, автоповернення коштів при відхиленні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37960" y="4590288"/>
            <a:ext cx="4983480" cy="1353312"/>
          </a:xfrm>
          <a:prstGeom prst="roundRect">
            <a:avLst>
              <a:gd name="adj" fmla="val 5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537960" y="4590288"/>
            <a:ext cx="54864" cy="1353312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784848" y="471830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Спори та адміністрування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473659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EEAD4"/>
                </a:solidFill>
                <a:latin typeface="Arial"/>
              </a:rPr>
              <a:t>13 + 23 тести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84848" y="5010912"/>
            <a:ext cx="4617720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B7BCC7"/>
                </a:solidFill>
                <a:latin typeface="Arial"/>
              </a:rPr>
              <a:t>Фінансові наслідки рішень адміністратора у спорах (повернення, примусове завершення, штрафи), пошук і модерація користувачів, коригування балансу з журналюванням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37960" y="6089904"/>
            <a:ext cx="4983480" cy="548640"/>
          </a:xfrm>
          <a:prstGeom prst="roundRect">
            <a:avLst>
              <a:gd name="adj" fmla="val 8000"/>
            </a:avLst>
          </a:prstGeom>
          <a:solidFill>
            <a:srgbClr val="142B27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784848" y="62179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EEAD4"/>
                </a:solidFill>
                <a:latin typeface="Arial"/>
              </a:rPr>
              <a:t>93 тести · 0 помилок · &lt; 5 секунд виконання</a:t>
            </a:r>
          </a:p>
        </p:txBody>
      </p:sp>
      <p:pic>
        <p:nvPicPr>
          <p:cNvPr id="57" name="Picture 56" descr="tests93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156" y="2130552"/>
            <a:ext cx="4667406" cy="1682496"/>
          </a:xfrm>
          <a:prstGeom prst="rect">
            <a:avLst/>
          </a:prstGeom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8DF7E7-3BE4-43BE-6F22-D8C995A964FB}"/>
              </a:ext>
            </a:extLst>
          </p:cNvPr>
          <p:cNvSpPr txBox="1"/>
          <p:nvPr/>
        </p:nvSpPr>
        <p:spPr>
          <a:xfrm>
            <a:off x="11750040" y="6564075"/>
            <a:ext cx="384295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dirty="0">
                <a:solidFill>
                  <a:srgbClr val="7D8393"/>
                </a:solidFill>
                <a:latin typeface="Arial"/>
              </a:rPr>
              <a:t>1</a:t>
            </a:r>
            <a:r>
              <a:rPr lang="ru-RU" sz="1400" b="0" i="0" dirty="0">
                <a:solidFill>
                  <a:srgbClr val="7D8393"/>
                </a:solidFill>
                <a:latin typeface="Arial"/>
              </a:rPr>
              <a:t>4</a:t>
            </a:r>
            <a:endParaRPr sz="1400" b="0" i="0" dirty="0">
              <a:solidFill>
                <a:srgbClr val="7D8393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0803C"/>
                </a:solidFill>
                <a:latin typeface="Arial"/>
              </a:rPr>
              <a:t>ПІДСУМКИ РОЗРОБКИ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Технічний профіль проєкту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3385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B7BCC7"/>
                </a:solidFill>
                <a:latin typeface="Arial"/>
              </a:rPr>
              <a:t>Стек технологій, масштаб реалізації та ключові показники платформи SkinHex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1627632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0803C"/>
                </a:solidFill>
                <a:latin typeface="Arial"/>
              </a:rPr>
              <a:t>СТЕК ТЕХНОЛОГІЙ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1938528"/>
            <a:ext cx="2596896" cy="960120"/>
          </a:xfrm>
          <a:prstGeom prst="roundRect">
            <a:avLst>
              <a:gd name="adj" fmla="val 6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4671" y="2084831"/>
            <a:ext cx="23591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5EEAD4"/>
                </a:solidFill>
                <a:latin typeface="Arial"/>
              </a:rPr>
              <a:t>Backend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" y="2359152"/>
            <a:ext cx="235915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B7BCC7"/>
                </a:solidFill>
                <a:latin typeface="Arial"/>
              </a:rPr>
              <a:t>.NET Core (C#) · ASP.NET Core · Clean Architecture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64991" y="1938528"/>
            <a:ext cx="2596896" cy="960120"/>
          </a:xfrm>
          <a:prstGeom prst="roundRect">
            <a:avLst>
              <a:gd name="adj" fmla="val 6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29584" y="2084831"/>
            <a:ext cx="23591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5EEAD4"/>
                </a:solidFill>
                <a:latin typeface="Arial"/>
              </a:rPr>
              <a:t>Frontend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9584" y="2359152"/>
            <a:ext cx="235915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B7BCC7"/>
                </a:solidFill>
                <a:latin typeface="Arial"/>
              </a:rPr>
              <a:t>React + TypeScript · SPA · SignalR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89904" y="1938528"/>
            <a:ext cx="2596896" cy="960120"/>
          </a:xfrm>
          <a:prstGeom prst="roundRect">
            <a:avLst>
              <a:gd name="adj" fmla="val 6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54496" y="2084831"/>
            <a:ext cx="23591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5EEAD4"/>
                </a:solidFill>
                <a:latin typeface="Arial"/>
              </a:rPr>
              <a:t>Дані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54496" y="2359152"/>
            <a:ext cx="235915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B7BCC7"/>
                </a:solidFill>
                <a:latin typeface="Arial"/>
              </a:rPr>
              <a:t>PostgreSQL · Redis · EF Core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14816" y="1938528"/>
            <a:ext cx="2596896" cy="960120"/>
          </a:xfrm>
          <a:prstGeom prst="roundRect">
            <a:avLst>
              <a:gd name="adj" fmla="val 6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79408" y="2084831"/>
            <a:ext cx="23591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5EEAD4"/>
                </a:solidFill>
                <a:latin typeface="Arial"/>
              </a:rPr>
              <a:t>Інфраструктура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9408" y="2359152"/>
            <a:ext cx="235915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B7BCC7"/>
                </a:solidFill>
                <a:latin typeface="Arial"/>
              </a:rPr>
              <a:t>Hangfire · WebAssembly · Docker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31272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0803C"/>
                </a:solidFill>
                <a:latin typeface="Arial"/>
              </a:rPr>
              <a:t>РЕАЛІЗОВАНІ КОМПОНЕНТИ СИСТЕМИ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3493008"/>
            <a:ext cx="128016" cy="128016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6112" y="3438144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B7BCC7"/>
                </a:solidFill>
                <a:latin typeface="Arial"/>
              </a:rPr>
              <a:t>Core API Server — бізнес-логіка, автомат станів угод, фінансові операції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3913631"/>
            <a:ext cx="128016" cy="128016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96112" y="385876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B7BCC7"/>
                </a:solidFill>
                <a:latin typeface="Arial"/>
              </a:rPr>
              <a:t>Steam Gateway — обхід лімітів Valve через пул проксі та ботів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4334255"/>
            <a:ext cx="128016" cy="128016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96112" y="4279392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B7BCC7"/>
                </a:solidFill>
                <a:latin typeface="Arial"/>
              </a:rPr>
              <a:t>Notary Service — генерація криптографічних доказів (TLS Notary)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3493008"/>
            <a:ext cx="128016" cy="128016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28232" y="3438144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B7BCC7"/>
                </a:solidFill>
                <a:latin typeface="Arial"/>
              </a:rPr>
              <a:t>Bot Pool Service — авторизація та підтримка мережі ботів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3913631"/>
            <a:ext cx="128016" cy="128016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28232" y="385876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B7BCC7"/>
                </a:solidFill>
                <a:latin typeface="Arial"/>
              </a:rPr>
              <a:t>Вебдодаток (React SPA) — каталог, профіль, візуалізація угод у реальному часі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72200" y="4334255"/>
            <a:ext cx="128016" cy="128016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28232" y="4279392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B7BCC7"/>
                </a:solidFill>
                <a:latin typeface="Arial"/>
              </a:rPr>
              <a:t>Браузерне розширення — ізольований довірений агент продавця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507492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04671" y="5230368"/>
            <a:ext cx="23591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5EEAD4"/>
                </a:solidFill>
                <a:latin typeface="Arial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1" y="5742432"/>
            <a:ext cx="235915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B7BCC7"/>
                </a:solidFill>
                <a:latin typeface="Arial"/>
              </a:rPr>
              <a:t>сервісів у розподіленій архітектурі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160520" y="507492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325113" y="5230368"/>
            <a:ext cx="23591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5EEAD4"/>
                </a:solidFill>
                <a:latin typeface="Arial"/>
              </a:rPr>
              <a:t>93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25113" y="5742432"/>
            <a:ext cx="235915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B7BCC7"/>
                </a:solidFill>
                <a:latin typeface="Arial"/>
              </a:rPr>
              <a:t>автоматизованих тести, 0 помилок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680960" y="507492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845552" y="5230368"/>
            <a:ext cx="23591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5EEAD4"/>
                </a:solidFill>
                <a:latin typeface="Arial"/>
              </a:rPr>
              <a:t>3 НФ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45552" y="5742432"/>
            <a:ext cx="235915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B7BCC7"/>
                </a:solidFill>
                <a:latin typeface="Arial"/>
              </a:rPr>
              <a:t>нормалізація схеми PostgreSQL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F06CC4-CBA5-6025-4EAC-827BDD614324}"/>
              </a:ext>
            </a:extLst>
          </p:cNvPr>
          <p:cNvSpPr txBox="1"/>
          <p:nvPr/>
        </p:nvSpPr>
        <p:spPr>
          <a:xfrm>
            <a:off x="11750040" y="6564075"/>
            <a:ext cx="384295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dirty="0">
                <a:solidFill>
                  <a:srgbClr val="7D8393"/>
                </a:solidFill>
                <a:latin typeface="Arial"/>
              </a:rPr>
              <a:t>1</a:t>
            </a:r>
            <a:r>
              <a:rPr lang="ru-RU" sz="1400" b="0" i="0" dirty="0">
                <a:solidFill>
                  <a:srgbClr val="7D8393"/>
                </a:solidFill>
                <a:latin typeface="Arial"/>
              </a:rPr>
              <a:t>5</a:t>
            </a:r>
            <a:endParaRPr sz="1400" b="0" i="0" dirty="0">
              <a:solidFill>
                <a:srgbClr val="7D8393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1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uk-UA" sz="1100" b="1" i="0" noProof="1">
                <a:solidFill>
                  <a:srgbClr val="F0803C"/>
                </a:solidFill>
                <a:latin typeface="Arial"/>
              </a:rPr>
              <a:t>ПІДСУМОК РОБОТИ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40011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uk-UA" sz="2600" b="1" i="0" noProof="1">
                <a:solidFill>
                  <a:srgbClr val="FFFFFF"/>
                </a:solidFill>
                <a:latin typeface="Arial"/>
              </a:rPr>
              <a:t>Висновки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1508760"/>
            <a:ext cx="10881360" cy="1005840"/>
          </a:xfrm>
          <a:prstGeom prst="roundRect">
            <a:avLst>
              <a:gd name="adj" fmla="val 5000"/>
            </a:avLst>
          </a:prstGeom>
          <a:solidFill>
            <a:srgbClr val="1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1"/>
          </a:p>
        </p:txBody>
      </p:sp>
      <p:sp>
        <p:nvSpPr>
          <p:cNvPr id="25" name="TextBox 24"/>
          <p:cNvSpPr txBox="1"/>
          <p:nvPr/>
        </p:nvSpPr>
        <p:spPr>
          <a:xfrm>
            <a:off x="896112" y="1645920"/>
            <a:ext cx="10378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uk-UA" sz="1150" b="0" i="0" noProof="1">
                <a:solidFill>
                  <a:srgbClr val="B7BCC7"/>
                </a:solidFill>
                <a:latin typeface="Arial"/>
              </a:rPr>
              <a:t>У ході виконання кваліфікаційної роботи пройдено повний життєвий цикл розробки ПЗ — від формування ідеї до запуску повноцінного вебдодатка. Розроблена система ефективно вирішує ключову проблему ринку: безпечну передачу цифрових активів між користувачами без трейд-ботів, за парадигмою «нульової довіри»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651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uk-UA" sz="1200" b="1" i="0" noProof="1">
                <a:solidFill>
                  <a:srgbClr val="F0803C"/>
                </a:solidFill>
                <a:latin typeface="Arial"/>
              </a:rPr>
              <a:t>ОСНОВНІ РЕЗУЛЬТАТИ РОБОТИ</a:t>
            </a:r>
          </a:p>
        </p:txBody>
      </p:sp>
      <p:sp>
        <p:nvSpPr>
          <p:cNvPr id="27" name="Hexagon 26"/>
          <p:cNvSpPr/>
          <p:nvPr/>
        </p:nvSpPr>
        <p:spPr>
          <a:xfrm>
            <a:off x="640080" y="2999232"/>
            <a:ext cx="384048" cy="330281"/>
          </a:xfrm>
          <a:prstGeom prst="hexagon">
            <a:avLst/>
          </a:prstGeom>
          <a:noFill/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uk-UA" sz="1300" b="1" noProof="1">
                <a:solidFill>
                  <a:srgbClr val="5EEAD4"/>
                </a:solidFill>
                <a:latin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2980944"/>
            <a:ext cx="4160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uk-UA" sz="1200" b="1" i="0" noProof="1">
                <a:solidFill>
                  <a:srgbClr val="FFFFFF"/>
                </a:solidFill>
                <a:latin typeface="Arial"/>
              </a:rPr>
              <a:t>Архітектура бекенду та допоміжних сервісів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2999232"/>
            <a:ext cx="5989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uk-UA" sz="1030" b="0" i="0" noProof="1">
                <a:solidFill>
                  <a:srgbClr val="B7BCC7"/>
                </a:solidFill>
                <a:latin typeface="Arial"/>
              </a:rPr>
              <a:t>Автомат станів для управління угодами, планувальник Hangfire для реактивного моніторингу дедлайнів, Steam Gateway для обходу мережевих лімітів Valve</a:t>
            </a:r>
          </a:p>
        </p:txBody>
      </p:sp>
      <p:sp>
        <p:nvSpPr>
          <p:cNvPr id="30" name="Hexagon 29"/>
          <p:cNvSpPr/>
          <p:nvPr/>
        </p:nvSpPr>
        <p:spPr>
          <a:xfrm>
            <a:off x="640080" y="3730751"/>
            <a:ext cx="384048" cy="330281"/>
          </a:xfrm>
          <a:prstGeom prst="hexagon">
            <a:avLst/>
          </a:prstGeom>
          <a:noFill/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uk-UA" sz="1300" b="1" noProof="1">
                <a:solidFill>
                  <a:srgbClr val="5EEAD4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3712463"/>
            <a:ext cx="4160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uk-UA" sz="1200" b="1" i="0" noProof="1">
                <a:solidFill>
                  <a:srgbClr val="FFFFFF"/>
                </a:solidFill>
                <a:latin typeface="Arial"/>
              </a:rPr>
              <a:t>Криптографічні докази угод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3730751"/>
            <a:ext cx="5989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uk-UA" sz="1030" b="0" i="0" noProof="1">
                <a:solidFill>
                  <a:srgbClr val="B7BCC7"/>
                </a:solidFill>
                <a:latin typeface="Arial"/>
              </a:rPr>
              <a:t>Генерація Zero-Knowledge Proofs у браузері користувача — математична перевірка статусу передачі предмета в Steam без доступу до сесійних даних</a:t>
            </a:r>
          </a:p>
        </p:txBody>
      </p:sp>
      <p:sp>
        <p:nvSpPr>
          <p:cNvPr id="33" name="Hexagon 32"/>
          <p:cNvSpPr/>
          <p:nvPr/>
        </p:nvSpPr>
        <p:spPr>
          <a:xfrm>
            <a:off x="640080" y="4462271"/>
            <a:ext cx="384048" cy="330281"/>
          </a:xfrm>
          <a:prstGeom prst="hexagon">
            <a:avLst/>
          </a:prstGeom>
          <a:noFill/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uk-UA" sz="1300" b="1" noProof="1">
                <a:solidFill>
                  <a:srgbClr val="5EEAD4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443983"/>
            <a:ext cx="4160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uk-UA" sz="1200" b="1" i="0" noProof="1">
                <a:solidFill>
                  <a:srgbClr val="FFFFFF"/>
                </a:solidFill>
                <a:latin typeface="Arial"/>
              </a:rPr>
              <a:t>Браузерне розширення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4462271"/>
            <a:ext cx="5989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uk-UA" sz="1030" b="0" i="0" noProof="1">
                <a:solidFill>
                  <a:srgbClr val="B7BCC7"/>
                </a:solidFill>
                <a:latin typeface="Arial"/>
              </a:rPr>
              <a:t>Безпечний міст комунікації, що автоматизує створення Steam Trade Offer і виконує роль проксі-агента між вебдодатком і серверами Steam</a:t>
            </a:r>
          </a:p>
        </p:txBody>
      </p:sp>
      <p:sp>
        <p:nvSpPr>
          <p:cNvPr id="36" name="Hexagon 35"/>
          <p:cNvSpPr/>
          <p:nvPr/>
        </p:nvSpPr>
        <p:spPr>
          <a:xfrm>
            <a:off x="640080" y="5193791"/>
            <a:ext cx="384048" cy="330281"/>
          </a:xfrm>
          <a:prstGeom prst="hexagon">
            <a:avLst/>
          </a:prstGeom>
          <a:noFill/>
          <a:ln w="1905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uk-UA" sz="1300" b="1" noProof="1">
                <a:solidFill>
                  <a:srgbClr val="5EEAD4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5175503"/>
            <a:ext cx="4160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uk-UA" sz="1200" b="1" i="0" noProof="1">
                <a:solidFill>
                  <a:srgbClr val="FFFFFF"/>
                </a:solidFill>
                <a:latin typeface="Arial"/>
              </a:rPr>
              <a:t>Сучасний вебклієнт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5193791"/>
            <a:ext cx="5989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uk-UA" sz="1030" b="0" i="0" noProof="1">
                <a:solidFill>
                  <a:srgbClr val="B7BCC7"/>
                </a:solidFill>
                <a:latin typeface="Arial"/>
              </a:rPr>
              <a:t>Інтерактивний клієнтський інтерфейс, який забезпечує комфорт користувача на кожному етапі угоди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961888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uk-UA" sz="1200" b="1" i="0" noProof="1">
                <a:solidFill>
                  <a:srgbClr val="F0803C"/>
                </a:solidFill>
                <a:latin typeface="Arial"/>
              </a:rPr>
              <a:t>ПОДАЛЬШИЙ РОЗВИТОК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236208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uk-UA" sz="1050" b="0" i="0" noProof="1">
                <a:solidFill>
                  <a:srgbClr val="B7BCC7"/>
                </a:solidFill>
                <a:latin typeface="Arial"/>
              </a:rPr>
              <a:t>Додаткова фільтрація каталогу (наліпки, брелоки) · відкладені ордери (buy-order) · підсистема аналітики та статистики · удосконалення адаптивного інтерфейсу · мобільний застосунок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C433B7-3C76-2949-3857-17958B770A2B}"/>
              </a:ext>
            </a:extLst>
          </p:cNvPr>
          <p:cNvSpPr txBox="1"/>
          <p:nvPr/>
        </p:nvSpPr>
        <p:spPr>
          <a:xfrm>
            <a:off x="11750040" y="6564075"/>
            <a:ext cx="384295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uk-UA" sz="1400" b="0" i="0" noProof="1">
                <a:solidFill>
                  <a:srgbClr val="7D8393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08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9D82F7D-50E5-48A9-B9AF-B8FC00A0D937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a532d321-6c4e-43de-8f2d-c20575fe6ae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1286</TotalTime>
  <Words>1841</Words>
  <Application>Microsoft Office PowerPoint</Application>
  <PresentationFormat>Широкоэкранный</PresentationFormat>
  <Paragraphs>329</Paragraphs>
  <Slides>16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Consolas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Zhenya Razinkov</cp:lastModifiedBy>
  <cp:revision>15</cp:revision>
  <dcterms:created xsi:type="dcterms:W3CDTF">2026-07-09T21:06:25Z</dcterms:created>
  <dcterms:modified xsi:type="dcterms:W3CDTF">2026-07-15T10:38:15Z</dcterms:modified>
</cp:coreProperties>
</file>